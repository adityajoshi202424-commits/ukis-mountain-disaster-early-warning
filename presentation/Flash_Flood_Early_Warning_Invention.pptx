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iverBasinLandscape" descr="hero_flash_flood.jpg"/>
          <p:cNvPicPr>
            <a:picLocks noChangeAspect="1"/>
          </p:cNvPicPr>
          <p:nvPr/>
        </p:nvPicPr>
        <p:blipFill>
          <a:blip r:embed="rId2"/>
          <a:stretch>
            <a:fillRect/>
          </a:stretch>
        </p:blipFill>
        <p:spPr>
          <a:xfrm>
            <a:off x="0" y="0"/>
            <a:ext cx="12191695" cy="6858000"/>
          </a:xfrm>
          <a:prstGeom prst="rect">
            <a:avLst/>
          </a:prstGeom>
        </p:spPr>
      </p:pic>
      <p:sp>
        <p:nvSpPr>
          <p:cNvPr id="3" name="!!AtmosphericOverlay"/>
          <p:cNvSpPr/>
          <p:nvPr/>
        </p:nvSpPr>
        <p:spPr>
          <a:xfrm>
            <a:off x="0" y="0"/>
            <a:ext cx="12191695" cy="6858000"/>
          </a:xfrm>
          <a:prstGeom prst="rect">
            <a:avLst/>
          </a:prstGeom>
          <a:solidFill>
            <a:srgbClr val="3A4454">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TitleContainer"/>
          <p:cNvSpPr txBox="1"/>
          <p:nvPr/>
        </p:nvSpPr>
        <p:spPr>
          <a:xfrm>
            <a:off x="822960" y="1645920"/>
            <a:ext cx="10515600" cy="2926080"/>
          </a:xfrm>
          <a:prstGeom prst="rect">
            <a:avLst/>
          </a:prstGeom>
          <a:noFill/>
        </p:spPr>
        <p:txBody>
          <a:bodyPr wrap="square" lIns="0" rIns="0" tIns="0" bIns="0">
            <a:spAutoFit/>
          </a:bodyPr>
          <a:lstStyle/>
          <a:p>
            <a:pPr>
              <a:spcAft>
                <a:spcPts val="1000"/>
              </a:spcAft>
              <a:defRPr sz="1300" b="1">
                <a:solidFill>
                  <a:srgbClr val="FFC93C"/>
                </a:solidFill>
                <a:latin typeface="Segoe UI"/>
              </a:defRPr>
            </a:pPr>
            <a:r>
              <a:t>RESEARCH &amp; ENGINEERING PROPOSAL</a:t>
            </a:r>
          </a:p>
          <a:p>
            <a:pPr>
              <a:spcAft>
                <a:spcPts val="1400"/>
              </a:spcAft>
              <a:defRPr sz="4200" b="1">
                <a:solidFill>
                  <a:srgbClr val="F5F7FA"/>
                </a:solidFill>
                <a:latin typeface="Segoe UI"/>
              </a:defRPr>
            </a:pPr>
            <a:r>
              <a:t>WHEN THE FLOOD RISES FAST,</a:t>
            </a:r>
            <a:br/>
            <a:r>
              <a:t>EVERY MINUTE MATTERS</a:t>
            </a:r>
          </a:p>
          <a:p>
            <a:pPr>
              <a:defRPr sz="1800">
                <a:solidFill>
                  <a:srgbClr val="DCE6F5"/>
                </a:solidFill>
                <a:latin typeface="Segoe UI"/>
              </a:defRPr>
            </a:pPr>
            <a:r>
              <a:t>Hydrodynamic Modeling  •  Automated Satellite Backup  •  Depth-Constrained Evacuation</a:t>
            </a:r>
          </a:p>
        </p:txBody>
      </p:sp>
      <p:sp>
        <p:nvSpPr>
          <p:cNvPr id="5" name="!!TelemetryRibbon"/>
          <p:cNvSpPr/>
          <p:nvPr/>
        </p:nvSpPr>
        <p:spPr>
          <a:xfrm>
            <a:off x="822960" y="5212080"/>
            <a:ext cx="10545775" cy="1005840"/>
          </a:xfrm>
          <a:prstGeom prst="roundRect">
            <a:avLst>
              <a:gd name="adj" fmla="val 6000"/>
            </a:avLst>
          </a:prstGeom>
          <a:solidFill>
            <a:srgbClr val="141C28">
              <a:alpha val="80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200" b="1">
                <a:solidFill>
                  <a:srgbClr val="F5F7FA"/>
                </a:solidFill>
                <a:latin typeface="Segoe UI"/>
              </a:defRPr>
            </a:pPr>
            <a:r>
              <a:t>TARGET RIVER BASIN: BRAHMAPUTRA &amp; BARAK VALLEY   •   SATELLITE FAILOVER LATENCY: 420 MS   •   STATUS: ACTIVE</a:t>
            </a:r>
          </a:p>
          <a:p>
            <a:pPr>
              <a:defRPr sz="1100">
                <a:solidFill>
                  <a:srgbClr val="AAB9CD"/>
                </a:solidFill>
                <a:latin typeface="Segoe UI"/>
              </a:defRPr>
            </a:pPr>
            <a:r>
              <a:t>Coupling 1D Saint-Venant hydraulic routing, automated Sentinel-3 radar backup, and profile-aware Dijkstra graph 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azardGaugePhoto" descr="sensor_flood_hazard.jpg"/>
          <p:cNvPicPr>
            <a:picLocks noChangeAspect="1"/>
          </p:cNvPicPr>
          <p:nvPr/>
        </p:nvPicPr>
        <p:blipFill>
          <a:blip r:embed="rId2"/>
          <a:stretch>
            <a:fillRect/>
          </a:stretch>
        </p:blipFill>
        <p:spPr>
          <a:xfrm>
            <a:off x="731520" y="1737360"/>
            <a:ext cx="4114800" cy="4389120"/>
          </a:xfrm>
          <a:prstGeom prst="rect">
            <a:avLst/>
          </a:prstGeom>
        </p:spPr>
      </p:pic>
      <p:sp>
        <p:nvSpPr>
          <p:cNvPr id="4"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FFC93C"/>
                </a:solidFill>
                <a:latin typeface="Segoe UI"/>
              </a:defRPr>
            </a:pPr>
            <a:r>
              <a:t>HAZARD ANALYSIS</a:t>
            </a:r>
          </a:p>
          <a:p>
            <a:pPr>
              <a:defRPr sz="2600" b="1">
                <a:solidFill>
                  <a:srgbClr val="F5F7FA"/>
                </a:solidFill>
                <a:latin typeface="Segoe UI"/>
              </a:defRPr>
            </a:pPr>
            <a:r>
              <a:t>THE FLASH-FLOOD REALITY: 3 CRITICAL SYSTEM BLIND SPOTS</a:t>
            </a:r>
          </a:p>
        </p:txBody>
      </p:sp>
      <p:sp>
        <p:nvSpPr>
          <p:cNvPr id="5" name="!!ProblemCard_01"/>
          <p:cNvSpPr/>
          <p:nvPr/>
        </p:nvSpPr>
        <p:spPr>
          <a:xfrm>
            <a:off x="5120640" y="1737360"/>
            <a:ext cx="6309360" cy="1325880"/>
          </a:xfrm>
          <a:prstGeom prst="roundRect">
            <a:avLst>
              <a:gd name="adj" fmla="val 6000"/>
            </a:avLst>
          </a:prstGeom>
          <a:solidFill>
            <a:srgbClr val="18202D">
              <a:alpha val="85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400" b="1">
                <a:solidFill>
                  <a:srgbClr val="FFC93C"/>
                </a:solidFill>
                <a:latin typeface="Segoe UI"/>
              </a:defRPr>
            </a:pPr>
            <a:r>
              <a:t>[01]  RAPID ONSET SURGE</a:t>
            </a:r>
          </a:p>
          <a:p>
            <a:pPr>
              <a:defRPr sz="1100">
                <a:solidFill>
                  <a:srgbClr val="C8D4E4"/>
                </a:solidFill>
                <a:latin typeface="Segoe UI"/>
              </a:defRPr>
            </a:pPr>
            <a:r>
              <a:t>Water levels rise within 15–45 minutes of upstream cloudbursts. Conventional 24-hr numerical forecast models fail to run in time.</a:t>
            </a:r>
          </a:p>
        </p:txBody>
      </p:sp>
      <p:sp>
        <p:nvSpPr>
          <p:cNvPr id="6" name="!!ProblemCard_02"/>
          <p:cNvSpPr/>
          <p:nvPr/>
        </p:nvSpPr>
        <p:spPr>
          <a:xfrm>
            <a:off x="5120640" y="3246120"/>
            <a:ext cx="6309360" cy="1325880"/>
          </a:xfrm>
          <a:prstGeom prst="roundRect">
            <a:avLst>
              <a:gd name="adj" fmla="val 6000"/>
            </a:avLst>
          </a:prstGeom>
          <a:solidFill>
            <a:srgbClr val="18202D">
              <a:alpha val="85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400" b="1">
                <a:solidFill>
                  <a:srgbClr val="FF6B35"/>
                </a:solidFill>
                <a:latin typeface="Segoe UI"/>
              </a:defRPr>
            </a:pPr>
            <a:r>
              <a:t>[02]  TERRESTRIAL SENSOR FAILURE</a:t>
            </a:r>
          </a:p>
          <a:p>
            <a:pPr>
              <a:defRPr sz="1100">
                <a:solidFill>
                  <a:srgbClr val="C8D4E4"/>
                </a:solidFill>
                <a:latin typeface="Segoe UI"/>
              </a:defRPr>
            </a:pPr>
            <a:r>
              <a:t>Violent river torrents submerge and physically sever riverbank staff gauges, knocking critical telemetry offline during storms.</a:t>
            </a:r>
          </a:p>
        </p:txBody>
      </p:sp>
      <p:sp>
        <p:nvSpPr>
          <p:cNvPr id="7" name="!!ProblemCard_03"/>
          <p:cNvSpPr/>
          <p:nvPr/>
        </p:nvSpPr>
        <p:spPr>
          <a:xfrm>
            <a:off x="5120640" y="4754879"/>
            <a:ext cx="6309360" cy="1325880"/>
          </a:xfrm>
          <a:prstGeom prst="roundRect">
            <a:avLst>
              <a:gd name="adj" fmla="val 6000"/>
            </a:avLst>
          </a:prstGeom>
          <a:solidFill>
            <a:srgbClr val="18202D">
              <a:alpha val="85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400" b="1">
                <a:solidFill>
                  <a:srgbClr val="F5F7FA"/>
                </a:solidFill>
                <a:latin typeface="Segoe UI"/>
              </a:defRPr>
            </a:pPr>
            <a:r>
              <a:t>[03]  DEPTH-BLIND EVACUATION TRAPS</a:t>
            </a:r>
          </a:p>
          <a:p>
            <a:pPr>
              <a:defRPr sz="1100">
                <a:solidFill>
                  <a:srgbClr val="C8D4E4"/>
                </a:solidFill>
                <a:latin typeface="Segoe UI"/>
              </a:defRPr>
            </a:pPr>
            <a:r>
              <a:t>Standard road navigation lacks floodwater depth awareness, inadvertently routing citizens onto submerged, impassable roadways.</a:t>
            </a:r>
          </a:p>
        </p:txBody>
      </p:sp>
    </p:spTree>
  </p:cSld>
  <p:clrMapOvr>
    <a:masterClrMapping/>
  </p:clrMapOvr>
  <p:transition xmlns:p16="http://schemas.microsoft.com/office/powerpoint/2015/09/main" spd="med">
    <p16: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FFC93C"/>
                </a:solidFill>
                <a:latin typeface="Segoe UI"/>
              </a:defRPr>
            </a:pPr>
            <a:r>
              <a:t>SENSOR VULNERABILITY</a:t>
            </a:r>
          </a:p>
          <a:p>
            <a:pPr>
              <a:defRPr sz="2600" b="1">
                <a:solidFill>
                  <a:srgbClr val="F5F7FA"/>
                </a:solidFill>
                <a:latin typeface="Segoe UI"/>
              </a:defRPr>
            </a:pPr>
            <a:r>
              <a:t>WHY A SINGLE TERRESTRIAL SENSOR CANNOT BE TRUSTED</a:t>
            </a:r>
          </a:p>
        </p:txBody>
      </p:sp>
      <p:sp>
        <p:nvSpPr>
          <p:cNvPr id="4" name="!!FailureStage_STAGE 1"/>
          <p:cNvSpPr/>
          <p:nvPr/>
        </p:nvSpPr>
        <p:spPr>
          <a:xfrm>
            <a:off x="731520" y="1828800"/>
            <a:ext cx="3383280" cy="2560320"/>
          </a:xfrm>
          <a:prstGeom prst="roundRect">
            <a:avLst>
              <a:gd name="adj" fmla="val 6000"/>
            </a:avLst>
          </a:prstGeom>
          <a:solidFill>
            <a:srgbClr val="192230">
              <a:alpha val="90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FF6B35"/>
                </a:solidFill>
                <a:latin typeface="Segoe UI"/>
              </a:defRPr>
            </a:pPr>
            <a:r>
              <a:t>STAGE 1: RIVER GAUGE</a:t>
            </a:r>
          </a:p>
          <a:p>
            <a:pPr>
              <a:defRPr sz="1000">
                <a:solidFill>
                  <a:srgbClr val="F5F7FA"/>
                </a:solidFill>
                <a:latin typeface="Segoe UI"/>
              </a:defRPr>
            </a:pPr>
            <a:r>
              <a:t>STN-004 Dhubri Station</a:t>
            </a:r>
            <a:br/>
            <a:r>
              <a:t>Turbulent Flood Surge Peak</a:t>
            </a:r>
            <a:br/>
            <a:r>
              <a:t>Status: SEVERED BY DEBRIS</a:t>
            </a:r>
            <a:br/>
            <a:br/>
            <a:r>
              <a:t>Sensor Type: Physical staff probe</a:t>
            </a:r>
            <a:br/>
            <a:r>
              <a:t>Failure Cause: Debris impact &amp; silt</a:t>
            </a:r>
            <a:br/>
            <a:r>
              <a:t>Impact: River stage telemetry lost</a:t>
            </a:r>
          </a:p>
        </p:txBody>
      </p:sp>
      <p:sp>
        <p:nvSpPr>
          <p:cNvPr id="5" name="!!FailureStage_STAGE 2"/>
          <p:cNvSpPr/>
          <p:nvPr/>
        </p:nvSpPr>
        <p:spPr>
          <a:xfrm>
            <a:off x="4389120" y="1828800"/>
            <a:ext cx="3383280" cy="2560320"/>
          </a:xfrm>
          <a:prstGeom prst="roundRect">
            <a:avLst>
              <a:gd name="adj" fmla="val 6000"/>
            </a:avLst>
          </a:prstGeom>
          <a:solidFill>
            <a:srgbClr val="192230">
              <a:alpha val="90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FFC93C"/>
                </a:solidFill>
                <a:latin typeface="Segoe UI"/>
              </a:defRPr>
            </a:pPr>
            <a:r>
              <a:t>STAGE 2: TELEMETRY LINK</a:t>
            </a:r>
          </a:p>
          <a:p>
            <a:pPr>
              <a:defRPr sz="1000">
                <a:solidFill>
                  <a:srgbClr val="F5F7FA"/>
                </a:solidFill>
                <a:latin typeface="Segoe UI"/>
              </a:defRPr>
            </a:pPr>
            <a:r>
              <a:t>Cellular / LPWAN Link</a:t>
            </a:r>
            <a:br/>
            <a:r>
              <a:t>Continuous Packet Dropout</a:t>
            </a:r>
            <a:br/>
            <a:r>
              <a:t>Status: SIGNAL LOST (TIMEOUT)</a:t>
            </a:r>
            <a:br/>
            <a:br/>
            <a:r>
              <a:t>Protocol: 4G LTE Uplink / LoRa</a:t>
            </a:r>
            <a:br/>
            <a:r>
              <a:t>Transmission: Connection severed</a:t>
            </a:r>
            <a:br/>
            <a:r>
              <a:t>Impact: Telemetry dead-zone</a:t>
            </a:r>
          </a:p>
        </p:txBody>
      </p:sp>
      <p:sp>
        <p:nvSpPr>
          <p:cNvPr id="6" name="!!FailureStage_STAGE 3"/>
          <p:cNvSpPr/>
          <p:nvPr/>
        </p:nvSpPr>
        <p:spPr>
          <a:xfrm>
            <a:off x="8046720" y="1828800"/>
            <a:ext cx="3383280" cy="2560320"/>
          </a:xfrm>
          <a:prstGeom prst="roundRect">
            <a:avLst>
              <a:gd name="adj" fmla="val 6000"/>
            </a:avLst>
          </a:prstGeom>
          <a:solidFill>
            <a:srgbClr val="192230">
              <a:alpha val="90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DC6464"/>
                </a:solidFill>
                <a:latin typeface="Segoe UI"/>
              </a:defRPr>
            </a:pPr>
            <a:r>
              <a:t>STAGE 3: CONVENTIONAL FORECAST</a:t>
            </a:r>
          </a:p>
          <a:p>
            <a:pPr>
              <a:defRPr sz="1000">
                <a:solidFill>
                  <a:srgbClr val="F5F7FA"/>
                </a:solidFill>
                <a:latin typeface="Segoe UI"/>
              </a:defRPr>
            </a:pPr>
            <a:r>
              <a:t>Hydrodynamic Prediction Core</a:t>
            </a:r>
            <a:br/>
            <a:r>
              <a:t>Missing River Stage Parameter</a:t>
            </a:r>
            <a:br/>
            <a:r>
              <a:t>Status: PREDICTION HALTED</a:t>
            </a:r>
            <a:br/>
            <a:br/>
            <a:r>
              <a:t>Computation: Model crashes</a:t>
            </a:r>
            <a:br/>
            <a:r>
              <a:t>Lead Time: Zero warning issued</a:t>
            </a:r>
            <a:br/>
            <a:r>
              <a:t>Impact: Communities blind-sided</a:t>
            </a:r>
          </a:p>
        </p:txBody>
      </p:sp>
      <p:sp>
        <p:nvSpPr>
          <p:cNvPr id="7" name="!!DiagnosticBanner"/>
          <p:cNvSpPr/>
          <p:nvPr/>
        </p:nvSpPr>
        <p:spPr>
          <a:xfrm>
            <a:off x="731520" y="4754880"/>
            <a:ext cx="10728655" cy="1371600"/>
          </a:xfrm>
          <a:prstGeom prst="roundRect">
            <a:avLst>
              <a:gd name="adj" fmla="val 6000"/>
            </a:avLst>
          </a:prstGeom>
          <a:solidFill>
            <a:srgbClr val="261414">
              <a:alpha val="90000"/>
            </a:srgbClr>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400" b="1">
                <a:solidFill>
                  <a:srgbClr val="FF6B35"/>
                </a:solidFill>
                <a:latin typeface="Segoe UI"/>
              </a:defRPr>
            </a:pPr>
            <a:r>
              <a:t>CRITICAL GAP: TERRESTRIAL SENSOR SUSCEPTIBILITY TO DEBRIS</a:t>
            </a:r>
          </a:p>
          <a:p>
            <a:pPr>
              <a:defRPr sz="1100">
                <a:solidFill>
                  <a:srgbClr val="F5F7FA"/>
                </a:solidFill>
                <a:latin typeface="Segoe UI"/>
              </a:defRPr>
            </a:pPr>
            <a:r>
              <a:t>In conventional early warning setups, losing a river gauge halts flood forecasting completely. Our architecture detects missing telemetry or impossible derivatives within 420 ms, initiating an automated switchover to spaceborne radar altimetry.</a:t>
            </a:r>
          </a:p>
        </p:txBody>
      </p:sp>
    </p:spTree>
  </p:cSld>
  <p:clrMapOvr>
    <a:masterClrMapping/>
  </p:clrMapOvr>
  <p:transition xmlns:p16="http://schemas.microsoft.com/office/powerpoint/2015/09/main" spd="med">
    <p16: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atelliteHeroBg" descr="satellite_radar_orbit.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3A4454">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FFC93C"/>
                </a:solidFill>
                <a:latin typeface="Segoe UI"/>
              </a:defRPr>
            </a:pPr>
            <a:r>
              <a:t>SENSOR REDUNDANCY</a:t>
            </a:r>
          </a:p>
          <a:p>
            <a:pPr>
              <a:defRPr sz="2600" b="1">
                <a:solidFill>
                  <a:srgbClr val="F5F7FA"/>
                </a:solidFill>
                <a:latin typeface="Segoe UI"/>
              </a:defRPr>
            </a:pPr>
            <a:r>
              <a:t>FALLING BACK TO SATELLITE DATA</a:t>
            </a:r>
          </a:p>
        </p:txBody>
      </p:sp>
      <p:sp>
        <p:nvSpPr>
          <p:cNvPr id="5" name="!!FailoverFlowPanel"/>
          <p:cNvSpPr/>
          <p:nvPr/>
        </p:nvSpPr>
        <p:spPr>
          <a:xfrm>
            <a:off x="731520" y="1737360"/>
            <a:ext cx="5303520" cy="4389120"/>
          </a:xfrm>
          <a:prstGeom prst="roundRect">
            <a:avLst>
              <a:gd name="adj" fmla="val 6000"/>
            </a:avLst>
          </a:prstGeom>
          <a:solidFill>
            <a:srgbClr val="121926">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200"/>
              </a:spcAft>
              <a:defRPr sz="1400" b="1">
                <a:solidFill>
                  <a:srgbClr val="FFC93C"/>
                </a:solidFill>
                <a:latin typeface="Segoe UI"/>
              </a:defRPr>
            </a:pPr>
            <a:r>
              <a:t>AUTOMATED FAILOVER SEQUENCE</a:t>
            </a:r>
          </a:p>
          <a:p>
            <a:pPr>
              <a:spcAft>
                <a:spcPts val="200"/>
              </a:spcAft>
              <a:defRPr sz="1150" b="1">
                <a:solidFill>
                  <a:srgbClr val="F5F7FA"/>
                </a:solidFill>
                <a:latin typeface="Segoe UI"/>
              </a:defRPr>
            </a:pPr>
            <a:r>
              <a:t>1. GROUND GAUGE TELEMETRY</a:t>
            </a:r>
          </a:p>
          <a:p>
            <a:pPr>
              <a:spcAft>
                <a:spcPts val="1000"/>
              </a:spcAft>
              <a:defRPr sz="1000">
                <a:solidFill>
                  <a:srgbClr val="D2DEEE"/>
                </a:solidFill>
                <a:latin typeface="Segoe UI"/>
              </a:defRPr>
            </a:pPr>
            <a:r>
              <a:t>Central Water Commission (CWC) river station provides primary water level (h) and discharge (Q) readings at 15-minute polling intervals.</a:t>
            </a:r>
          </a:p>
          <a:p>
            <a:pPr>
              <a:spcAft>
                <a:spcPts val="200"/>
              </a:spcAft>
              <a:defRPr sz="1150" b="1">
                <a:solidFill>
                  <a:srgbClr val="FF6B35"/>
                </a:solidFill>
                <a:latin typeface="Segoe UI"/>
              </a:defRPr>
            </a:pPr>
            <a:r>
              <a:t>2. FAILOVER TRIPWIRE (420 ms)</a:t>
            </a:r>
          </a:p>
          <a:p>
            <a:pPr>
              <a:spcAft>
                <a:spcPts val="1000"/>
              </a:spcAft>
              <a:defRPr sz="1000">
                <a:solidFill>
                  <a:srgbClr val="D2DEEE"/>
                </a:solidFill>
                <a:latin typeface="Segoe UI"/>
              </a:defRPr>
            </a:pPr>
            <a:r>
              <a:t>Detection rule: If no gauge reading arrives for 15 minutes, or the rate of rise is physically impossible (Δh/Δt &gt; 1.5 m/min), the system automatically initiates failover.</a:t>
            </a:r>
          </a:p>
          <a:p>
            <a:pPr>
              <a:spcAft>
                <a:spcPts val="200"/>
              </a:spcAft>
              <a:defRPr sz="1150" b="1">
                <a:solidFill>
                  <a:srgbClr val="78BEFF"/>
                </a:solidFill>
                <a:latin typeface="Segoe UI"/>
              </a:defRPr>
            </a:pPr>
            <a:r>
              <a:t>3. SENTINEL-3 SAR TAKEOVER</a:t>
            </a:r>
          </a:p>
          <a:p>
            <a:pPr>
              <a:spcAft>
                <a:spcPts val="1000"/>
              </a:spcAft>
              <a:defRPr sz="1000">
                <a:solidFill>
                  <a:srgbClr val="D2DEEE"/>
                </a:solidFill>
                <a:latin typeface="Segoe UI"/>
              </a:defRPr>
            </a:pPr>
            <a:r>
              <a:t>Sentinel-3 Synthetic Aperture Radar (SAR) altimetry immediately supplies river surface height from orbit, maintaining hydrodynamic model continuity.</a:t>
            </a:r>
          </a:p>
        </p:txBody>
      </p:sp>
      <p:sp>
        <p:nvSpPr>
          <p:cNvPr id="6" name="!!FailoverExplanationPanel"/>
          <p:cNvSpPr/>
          <p:nvPr/>
        </p:nvSpPr>
        <p:spPr>
          <a:xfrm>
            <a:off x="6309360" y="1737360"/>
            <a:ext cx="5120640" cy="4389120"/>
          </a:xfrm>
          <a:prstGeom prst="roundRect">
            <a:avLst>
              <a:gd name="adj" fmla="val 6000"/>
            </a:avLst>
          </a:prstGeom>
          <a:solidFill>
            <a:srgbClr val="121926">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200"/>
              </a:spcAft>
              <a:defRPr sz="1400" b="1">
                <a:solidFill>
                  <a:srgbClr val="F5F7FA"/>
                </a:solidFill>
                <a:latin typeface="Segoe UI"/>
              </a:defRPr>
            </a:pPr>
            <a:r>
              <a:t>WHY SATELLITE RADAR WORKS AS BACKUP</a:t>
            </a:r>
          </a:p>
          <a:p>
            <a:pPr>
              <a:spcAft>
                <a:spcPts val="300"/>
              </a:spcAft>
              <a:defRPr sz="1200" b="1">
                <a:solidFill>
                  <a:srgbClr val="FFC93C"/>
                </a:solidFill>
                <a:latin typeface="Segoe UI"/>
              </a:defRPr>
            </a:pPr>
            <a:r>
              <a:t>Penetrates Heavy Cloud &amp; Rainfall</a:t>
            </a:r>
          </a:p>
          <a:p>
            <a:pPr>
              <a:spcAft>
                <a:spcPts val="1000"/>
              </a:spcAft>
              <a:defRPr sz="1000">
                <a:solidFill>
                  <a:srgbClr val="D2DCEB"/>
                </a:solidFill>
                <a:latin typeface="Segoe UI"/>
              </a:defRPr>
            </a:pPr>
            <a:r>
              <a:t>Satellite radar altimeters operate in microwave frequencies that penetrate dense monsoon clouds and torrential downpours. Optical satellites and ground cameras are blinded during major storms, but SAR radar measures surface height directly through cloud cover.</a:t>
            </a:r>
          </a:p>
          <a:p>
            <a:pPr>
              <a:spcAft>
                <a:spcPts val="300"/>
              </a:spcAft>
              <a:defRPr sz="1200" b="1">
                <a:solidFill>
                  <a:srgbClr val="FFC93C"/>
                </a:solidFill>
                <a:latin typeface="Segoe UI"/>
              </a:defRPr>
            </a:pPr>
            <a:r>
              <a:t>Independent of Ground Infrastructure</a:t>
            </a:r>
          </a:p>
          <a:p>
            <a:pPr>
              <a:spcAft>
                <a:spcPts val="1000"/>
              </a:spcAft>
              <a:defRPr sz="1000">
                <a:solidFill>
                  <a:srgbClr val="D2DCEB"/>
                </a:solidFill>
                <a:latin typeface="Segoe UI"/>
              </a:defRPr>
            </a:pPr>
            <a:r>
              <a:t>Spaceborne altimetry operates entirely from orbit. A debris strike, embankment washout, local power failure, or cellular tower outage on land has zero impact on orbital radar observations.</a:t>
            </a:r>
          </a:p>
          <a:p>
            <a:pPr>
              <a:spcAft>
                <a:spcPts val="300"/>
              </a:spcAft>
              <a:defRPr sz="1200" b="1">
                <a:solidFill>
                  <a:srgbClr val="FFC93C"/>
                </a:solidFill>
                <a:latin typeface="Segoe UI"/>
              </a:defRPr>
            </a:pPr>
            <a:r>
              <a:t>Verified 420 ms Switchover Latency</a:t>
            </a:r>
          </a:p>
          <a:p>
            <a:pPr>
              <a:spcAft>
                <a:spcPts val="1000"/>
              </a:spcAft>
              <a:defRPr sz="1000">
                <a:solidFill>
                  <a:srgbClr val="D2DCEB"/>
                </a:solidFill>
                <a:latin typeface="Segoe UI"/>
              </a:defRPr>
            </a:pPr>
            <a:r>
              <a:t>The backend polling engine detects sensor loss and rebinds the hydrodynamic boundary condition to Sentinel-3 SAR orbital passes in 420 ms, preventing forecast stalling during active flash-flood emergencies.</a:t>
            </a:r>
          </a:p>
        </p:txBody>
      </p:sp>
    </p:spTree>
  </p:cSld>
  <p:clrMapOvr>
    <a:masterClrMapping/>
  </p:clrMapOvr>
  <p:transition xmlns:p16="http://schemas.microsoft.com/office/powerpoint/2015/09/main" spd="med">
    <p16: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DATA INGESTION</a:t>
            </a:r>
          </a:p>
          <a:p>
            <a:pPr>
              <a:defRPr sz="2600" b="1">
                <a:solidFill>
                  <a:srgbClr val="F5F7FA"/>
                </a:solidFill>
                <a:latin typeface="Segoe UI"/>
              </a:defRPr>
            </a:pPr>
            <a:r>
              <a:t>THREE-TIER SENSING ARCHITECTURE</a:t>
            </a:r>
          </a:p>
        </p:txBody>
      </p:sp>
      <p:sp>
        <p:nvSpPr>
          <p:cNvPr id="4" name="!!IngestionTier_TIER 1"/>
          <p:cNvSpPr/>
          <p:nvPr/>
        </p:nvSpPr>
        <p:spPr>
          <a:xfrm>
            <a:off x="731520" y="1737360"/>
            <a:ext cx="3383280" cy="3566160"/>
          </a:xfrm>
          <a:prstGeom prst="roundRect">
            <a:avLst>
              <a:gd name="adj" fmla="val 6000"/>
            </a:avLst>
          </a:prstGeom>
          <a:solidFill>
            <a:srgbClr val="18202E">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78B4F0"/>
                </a:solidFill>
                <a:latin typeface="Segoe UI"/>
              </a:defRPr>
            </a:pPr>
            <a:r>
              <a:t>TIER 1: TERRESTRIAL SENSING</a:t>
            </a:r>
          </a:p>
          <a:p>
            <a:pPr>
              <a:spcAft>
                <a:spcPts val="500"/>
              </a:spcAft>
              <a:defRPr sz="1000">
                <a:solidFill>
                  <a:srgbClr val="F5F7FA"/>
                </a:solidFill>
                <a:latin typeface="Segoe UI"/>
              </a:defRPr>
            </a:pPr>
            <a:r>
              <a:t>• Central Water Commission (CWC) River Gauges</a:t>
            </a:r>
          </a:p>
          <a:p>
            <a:pPr>
              <a:spcAft>
                <a:spcPts val="500"/>
              </a:spcAft>
              <a:defRPr sz="1000">
                <a:solidFill>
                  <a:srgbClr val="F5F7FA"/>
                </a:solidFill>
                <a:latin typeface="Segoe UI"/>
              </a:defRPr>
            </a:pPr>
            <a:r>
              <a:t>• India Meteorological Dept (IMD) AWS Telemetry</a:t>
            </a:r>
          </a:p>
          <a:p>
            <a:pPr>
              <a:spcAft>
                <a:spcPts val="500"/>
              </a:spcAft>
              <a:defRPr sz="1000">
                <a:solidFill>
                  <a:srgbClr val="F5F7FA"/>
                </a:solidFill>
                <a:latin typeface="Segoe UI"/>
              </a:defRPr>
            </a:pPr>
            <a:r>
              <a:t>• Ground-based Automatic Weather Stations</a:t>
            </a:r>
          </a:p>
          <a:p>
            <a:pPr>
              <a:spcAft>
                <a:spcPts val="500"/>
              </a:spcAft>
              <a:defRPr sz="1000">
                <a:solidFill>
                  <a:srgbClr val="F5F7FA"/>
                </a:solidFill>
                <a:latin typeface="Segoe UI"/>
              </a:defRPr>
            </a:pPr>
            <a:r>
              <a:t>• Sampling Rate: 15-minute polling interval</a:t>
            </a:r>
          </a:p>
          <a:p>
            <a:pPr>
              <a:spcAft>
                <a:spcPts val="500"/>
              </a:spcAft>
              <a:defRPr sz="1000">
                <a:solidFill>
                  <a:srgbClr val="F5F7FA"/>
                </a:solidFill>
                <a:latin typeface="Segoe UI"/>
              </a:defRPr>
            </a:pPr>
            <a:r>
              <a:t>• Telemetry: Water level H, Rain intensity P</a:t>
            </a:r>
          </a:p>
          <a:p>
            <a:pPr>
              <a:spcAft>
                <a:spcPts val="500"/>
              </a:spcAft>
              <a:defRPr sz="1000">
                <a:solidFill>
                  <a:srgbClr val="F5F7FA"/>
                </a:solidFill>
                <a:latin typeface="Segoe UI"/>
              </a:defRPr>
            </a:pPr>
            <a:r>
              <a:t>• Failover: Instant tripwire on sensor drop</a:t>
            </a:r>
          </a:p>
        </p:txBody>
      </p:sp>
      <p:sp>
        <p:nvSpPr>
          <p:cNvPr id="5" name="!!IngestionTier_TIER 2"/>
          <p:cNvSpPr/>
          <p:nvPr/>
        </p:nvSpPr>
        <p:spPr>
          <a:xfrm>
            <a:off x="4389120" y="1737360"/>
            <a:ext cx="3383280" cy="3566160"/>
          </a:xfrm>
          <a:prstGeom prst="roundRect">
            <a:avLst>
              <a:gd name="adj" fmla="val 6000"/>
            </a:avLst>
          </a:prstGeom>
          <a:solidFill>
            <a:srgbClr val="18202E">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C93C"/>
                </a:solidFill>
                <a:latin typeface="Segoe UI"/>
              </a:defRPr>
            </a:pPr>
            <a:r>
              <a:t>TIER 2: SPACEBORNE RADAR</a:t>
            </a:r>
          </a:p>
          <a:p>
            <a:pPr>
              <a:spcAft>
                <a:spcPts val="500"/>
              </a:spcAft>
              <a:defRPr sz="1000">
                <a:solidFill>
                  <a:srgbClr val="F5F7FA"/>
                </a:solidFill>
                <a:latin typeface="Segoe UI"/>
              </a:defRPr>
            </a:pPr>
            <a:r>
              <a:t>• Sentinel-3 SAR Radar Altimetry (River Surface)</a:t>
            </a:r>
          </a:p>
          <a:p>
            <a:pPr>
              <a:spcAft>
                <a:spcPts val="500"/>
              </a:spcAft>
              <a:defRPr sz="1000">
                <a:solidFill>
                  <a:srgbClr val="F5F7FA"/>
                </a:solidFill>
                <a:latin typeface="Segoe UI"/>
              </a:defRPr>
            </a:pPr>
            <a:r>
              <a:t>• NASA GPM IMERG Real-Time Satellite Rainfall</a:t>
            </a:r>
          </a:p>
          <a:p>
            <a:pPr>
              <a:spcAft>
                <a:spcPts val="500"/>
              </a:spcAft>
              <a:defRPr sz="1000">
                <a:solidFill>
                  <a:srgbClr val="F5F7FA"/>
                </a:solidFill>
                <a:latin typeface="Segoe UI"/>
              </a:defRPr>
            </a:pPr>
            <a:r>
              <a:t>• Synthetic Aperture Radar (SAR) Constellation</a:t>
            </a:r>
          </a:p>
          <a:p>
            <a:pPr>
              <a:spcAft>
                <a:spcPts val="500"/>
              </a:spcAft>
              <a:defRPr sz="1000">
                <a:solidFill>
                  <a:srgbClr val="F5F7FA"/>
                </a:solidFill>
                <a:latin typeface="Segoe UI"/>
              </a:defRPr>
            </a:pPr>
            <a:r>
              <a:t>• Spatial Resolution: 0.1° gridded precipitation</a:t>
            </a:r>
          </a:p>
          <a:p>
            <a:pPr>
              <a:spcAft>
                <a:spcPts val="500"/>
              </a:spcAft>
              <a:defRPr sz="1000">
                <a:solidFill>
                  <a:srgbClr val="F5F7FA"/>
                </a:solidFill>
                <a:latin typeface="Segoe UI"/>
              </a:defRPr>
            </a:pPr>
            <a:r>
              <a:t>• Cloud Penetration: Dual-frequency radar altimetry</a:t>
            </a:r>
          </a:p>
          <a:p>
            <a:pPr>
              <a:spcAft>
                <a:spcPts val="500"/>
              </a:spcAft>
              <a:defRPr sz="1000">
                <a:solidFill>
                  <a:srgbClr val="F5F7FA"/>
                </a:solidFill>
                <a:latin typeface="Segoe UI"/>
              </a:defRPr>
            </a:pPr>
            <a:r>
              <a:t>• Orbital Tracking: Regular passes over major basins</a:t>
            </a:r>
          </a:p>
        </p:txBody>
      </p:sp>
      <p:sp>
        <p:nvSpPr>
          <p:cNvPr id="6" name="!!IngestionTier_TIER 3"/>
          <p:cNvSpPr/>
          <p:nvPr/>
        </p:nvSpPr>
        <p:spPr>
          <a:xfrm>
            <a:off x="8046720" y="1737360"/>
            <a:ext cx="3383280" cy="3566160"/>
          </a:xfrm>
          <a:prstGeom prst="roundRect">
            <a:avLst>
              <a:gd name="adj" fmla="val 6000"/>
            </a:avLst>
          </a:prstGeom>
          <a:solidFill>
            <a:srgbClr val="18202E">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B4D2A0"/>
                </a:solidFill>
                <a:latin typeface="Segoe UI"/>
              </a:defRPr>
            </a:pPr>
            <a:r>
              <a:t>TIER 3: TOPOGRAPHY &amp; INFRASTRUCTURE</a:t>
            </a:r>
          </a:p>
          <a:p>
            <a:pPr>
              <a:spcAft>
                <a:spcPts val="500"/>
              </a:spcAft>
              <a:defRPr sz="1000">
                <a:solidFill>
                  <a:srgbClr val="F5F7FA"/>
                </a:solidFill>
                <a:latin typeface="Segoe UI"/>
              </a:defRPr>
            </a:pPr>
            <a:r>
              <a:t>• SRTM 30m Digital Elevation Model (DEM)</a:t>
            </a:r>
          </a:p>
          <a:p>
            <a:pPr>
              <a:spcAft>
                <a:spcPts val="500"/>
              </a:spcAft>
              <a:defRPr sz="1000">
                <a:solidFill>
                  <a:srgbClr val="F5F7FA"/>
                </a:solidFill>
                <a:latin typeface="Segoe UI"/>
              </a:defRPr>
            </a:pPr>
            <a:r>
              <a:t>• ISRIC SoilGrids Antecedent Soil Moisture</a:t>
            </a:r>
          </a:p>
          <a:p>
            <a:pPr>
              <a:spcAft>
                <a:spcPts val="500"/>
              </a:spcAft>
              <a:defRPr sz="1000">
                <a:solidFill>
                  <a:srgbClr val="F5F7FA"/>
                </a:solidFill>
                <a:latin typeface="Segoe UI"/>
              </a:defRPr>
            </a:pPr>
            <a:r>
              <a:t>• OpenStreetMap High-Resolution Road Network</a:t>
            </a:r>
          </a:p>
          <a:p>
            <a:pPr>
              <a:spcAft>
                <a:spcPts val="500"/>
              </a:spcAft>
              <a:defRPr sz="1000">
                <a:solidFill>
                  <a:srgbClr val="F5F7FA"/>
                </a:solidFill>
                <a:latin typeface="Segoe UI"/>
              </a:defRPr>
            </a:pPr>
            <a:r>
              <a:t>• Catchment Gradient &amp; Channel Roughness</a:t>
            </a:r>
          </a:p>
          <a:p>
            <a:pPr>
              <a:spcAft>
                <a:spcPts val="500"/>
              </a:spcAft>
              <a:defRPr sz="1000">
                <a:solidFill>
                  <a:srgbClr val="F5F7FA"/>
                </a:solidFill>
                <a:latin typeface="Segoe UI"/>
              </a:defRPr>
            </a:pPr>
            <a:r>
              <a:t>• Registered Relief Shelter Plinth Elevations</a:t>
            </a:r>
          </a:p>
          <a:p>
            <a:pPr>
              <a:spcAft>
                <a:spcPts val="500"/>
              </a:spcAft>
              <a:defRPr sz="1000">
                <a:solidFill>
                  <a:srgbClr val="F5F7FA"/>
                </a:solidFill>
                <a:latin typeface="Segoe UI"/>
              </a:defRPr>
            </a:pPr>
            <a:r>
              <a:t>• Hydraulic Cross-Sections: Manning's n factors</a:t>
            </a:r>
          </a:p>
        </p:txBody>
      </p:sp>
      <p:sp>
        <p:nvSpPr>
          <p:cNvPr id="7" name="!!ConvergenceBar"/>
          <p:cNvSpPr/>
          <p:nvPr/>
        </p:nvSpPr>
        <p:spPr>
          <a:xfrm>
            <a:off x="731520" y="5486400"/>
            <a:ext cx="10728655" cy="822960"/>
          </a:xfrm>
          <a:prstGeom prst="roundRect">
            <a:avLst>
              <a:gd name="adj" fmla="val 6000"/>
            </a:avLst>
          </a:prstGeom>
          <a:solidFill>
            <a:srgbClr val="121924">
              <a:alpha val="90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defRPr sz="1200" b="1">
                <a:solidFill>
                  <a:srgbClr val="F5F7FA"/>
                </a:solidFill>
                <a:latin typeface="Segoe UI"/>
              </a:defRPr>
            </a:pPr>
            <a:r>
              <a:t>DATA PROVENANCE: Every sensor reading carries full source telemetry and timestamp. Missing or corrupt feeds trigger automated fallback.</a:t>
            </a:r>
          </a:p>
        </p:txBody>
      </p:sp>
    </p:spTree>
  </p:cSld>
  <p:clrMapOvr>
    <a:masterClrMapping/>
  </p:clrMapOvr>
  <p:transition xmlns:p16="http://schemas.microsoft.com/office/powerpoint/2015/09/main" spd="med">
    <p16: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HYDRODYNAMIC MODELING</a:t>
            </a:r>
          </a:p>
          <a:p>
            <a:pPr>
              <a:defRPr sz="2600" b="1">
                <a:solidFill>
                  <a:srgbClr val="F5F7FA"/>
                </a:solidFill>
                <a:latin typeface="Segoe UI"/>
              </a:defRPr>
            </a:pPr>
            <a:r>
              <a:t>PHYSICS-BASED SURGE ESTIMATION</a:t>
            </a:r>
          </a:p>
        </p:txBody>
      </p:sp>
      <p:sp>
        <p:nvSpPr>
          <p:cNvPr id="4" name="!!CelerityCard"/>
          <p:cNvSpPr/>
          <p:nvPr/>
        </p:nvSpPr>
        <p:spPr>
          <a:xfrm>
            <a:off x="731520" y="1737360"/>
            <a:ext cx="5212080" cy="2468880"/>
          </a:xfrm>
          <a:prstGeom prst="roundRect">
            <a:avLst>
              <a:gd name="adj" fmla="val 6000"/>
            </a:avLst>
          </a:prstGeom>
          <a:solidFill>
            <a:srgbClr val="18202D">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1. SAINT-VENANT 1D WAVE CELERITY</a:t>
            </a:r>
          </a:p>
          <a:p>
            <a:pPr>
              <a:spcAft>
                <a:spcPts val="800"/>
              </a:spcAft>
              <a:defRPr sz="1300" b="1">
                <a:solidFill>
                  <a:srgbClr val="FF6B35"/>
                </a:solidFill>
                <a:latin typeface="Consolas"/>
              </a:defRPr>
            </a:pPr>
            <a:r>
              <a:t>c = dQ / dA ≈ (5/3) v</a:t>
            </a:r>
          </a:p>
          <a:p>
            <a:pPr>
              <a:defRPr sz="1000">
                <a:solidFill>
                  <a:srgbClr val="D7E1F0"/>
                </a:solidFill>
                <a:latin typeface="Segoe UI"/>
              </a:defRPr>
            </a:pPr>
            <a:r>
              <a:t>Calculates downstream flood-wave propagation velocity along the river channel. At base flow velocity v ≈ 3.2 m/s, celerity c ≈ 5.3 m/s, providing ~2.5 hours lead time between upstream Dibrugarh and downstream stations.</a:t>
            </a:r>
          </a:p>
        </p:txBody>
      </p:sp>
      <p:sp>
        <p:nvSpPr>
          <p:cNvPr id="5" name="!!RateOfRiseCard"/>
          <p:cNvSpPr/>
          <p:nvPr/>
        </p:nvSpPr>
        <p:spPr>
          <a:xfrm>
            <a:off x="6217920" y="1737360"/>
            <a:ext cx="5212080" cy="2468880"/>
          </a:xfrm>
          <a:prstGeom prst="roundRect">
            <a:avLst>
              <a:gd name="adj" fmla="val 6000"/>
            </a:avLst>
          </a:prstGeom>
          <a:solidFill>
            <a:srgbClr val="18202D">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2. DYNAMIC RATE-OF-RISE DERIVATIVE</a:t>
            </a:r>
          </a:p>
          <a:p>
            <a:pPr>
              <a:spcAft>
                <a:spcPts val="800"/>
              </a:spcAft>
              <a:defRPr sz="1300" b="1">
                <a:solidFill>
                  <a:srgbClr val="FF6B35"/>
                </a:solidFill>
                <a:latin typeface="Consolas"/>
              </a:defRPr>
            </a:pPr>
            <a:r>
              <a:t>Δh / Δt = (h_t - h_{t-1}) / Δt</a:t>
            </a:r>
          </a:p>
          <a:p>
            <a:pPr>
              <a:defRPr sz="1000">
                <a:solidFill>
                  <a:srgbClr val="D7E1F0"/>
                </a:solidFill>
                <a:latin typeface="Segoe UI"/>
              </a:defRPr>
            </a:pPr>
            <a:r>
              <a:t>Calculates instantaneous water level surge velocity across rolling 15-minute intervals. Detects abrupt cloudburst flood waves while filtering out normal seasonal rising.</a:t>
            </a:r>
          </a:p>
        </p:txBody>
      </p:sp>
      <p:sp>
        <p:nvSpPr>
          <p:cNvPr id="6" name="!!PhysicsCaption"/>
          <p:cNvSpPr/>
          <p:nvPr/>
        </p:nvSpPr>
        <p:spPr>
          <a:xfrm>
            <a:off x="731520" y="4343400"/>
            <a:ext cx="10728655" cy="594360"/>
          </a:xfrm>
          <a:prstGeom prst="roundRect">
            <a:avLst>
              <a:gd name="adj" fmla="val 6000"/>
            </a:avLst>
          </a:prstGeom>
          <a:solidFill>
            <a:srgbClr val="141A26">
              <a:alpha val="85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defRPr sz="1000">
                <a:solidFill>
                  <a:srgbClr val="B4CDE6"/>
                </a:solidFill>
                <a:latin typeface="Segoe UI"/>
              </a:defRPr>
            </a:pPr>
            <a:r>
              <a:t>Catchment Wave Coupling: When antecedent soil saturation Sm ≥ 0.80, infiltration drops sharply, accelerating surface runoff. Downstream flood-wave attenuation is modeled with exponential decay λ = 0.15/hr.</a:t>
            </a:r>
          </a:p>
        </p:txBody>
      </p:sp>
      <p:sp>
        <p:nvSpPr>
          <p:cNvPr id="7" name="!!PhysicsFlowchart"/>
          <p:cNvSpPr/>
          <p:nvPr/>
        </p:nvSpPr>
        <p:spPr>
          <a:xfrm>
            <a:off x="731520" y="5074920"/>
            <a:ext cx="10728655" cy="1234440"/>
          </a:xfrm>
          <a:prstGeom prst="roundRect">
            <a:avLst>
              <a:gd name="adj" fmla="val 6000"/>
            </a:avLst>
          </a:prstGeom>
          <a:solidFill>
            <a:srgbClr val="1A2332">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100" b="1">
                <a:solidFill>
                  <a:srgbClr val="FFC93C"/>
                </a:solidFill>
                <a:latin typeface="Segoe UI"/>
              </a:defRPr>
            </a:pPr>
            <a:r>
              <a:t>HYDRODYNAMIC PROCESSING SEQUENCE</a:t>
            </a:r>
          </a:p>
          <a:p>
            <a:pPr>
              <a:defRPr sz="1100" b="1">
                <a:solidFill>
                  <a:srgbClr val="F5F7FA"/>
                </a:solidFill>
                <a:latin typeface="Segoe UI"/>
              </a:defRPr>
            </a:pPr>
            <a:r>
              <a:t>Rainfall Influx  →  Soil Saturation Check (Sm ≥ 0.80)  →  Overland Runoff  →  Rate-of-Rise (Δh/Δt)  →  Thresholds: Watch (0.30) | Alert (0.50) | Emergency (0.85 m/hr)</a:t>
            </a:r>
          </a:p>
        </p:txBody>
      </p:sp>
    </p:spTree>
  </p:cSld>
  <p:clrMapOvr>
    <a:masterClrMapping/>
  </p:clrMapOvr>
  <p:transition xmlns:p16="http://schemas.microsoft.com/office/powerpoint/2015/09/main" spd="med">
    <p16: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PREDICTION FRAMEWORK</a:t>
            </a:r>
          </a:p>
          <a:p>
            <a:pPr>
              <a:defRPr sz="2600" b="1">
                <a:solidFill>
                  <a:srgbClr val="F5F7FA"/>
                </a:solidFill>
                <a:latin typeface="Segoe UI"/>
              </a:defRPr>
            </a:pPr>
            <a:r>
              <a:t>CONSTRAINING MACHINE LEARNING WITH HYDRAULIC PHYSICS</a:t>
            </a:r>
          </a:p>
        </p:txBody>
      </p:sp>
      <p:sp>
        <p:nvSpPr>
          <p:cNvPr id="4" name="!!PhysicsDomainCard"/>
          <p:cNvSpPr/>
          <p:nvPr/>
        </p:nvSpPr>
        <p:spPr>
          <a:xfrm>
            <a:off x="731520" y="1737360"/>
            <a:ext cx="5212080" cy="3383280"/>
          </a:xfrm>
          <a:prstGeom prst="roundRect">
            <a:avLst>
              <a:gd name="adj" fmla="val 6000"/>
            </a:avLst>
          </a:prstGeom>
          <a:solidFill>
            <a:srgbClr val="161E2A">
              <a:alpha val="88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FFC93C"/>
                </a:solidFill>
                <a:latin typeface="Segoe UI"/>
              </a:defRPr>
            </a:pPr>
            <a:r>
              <a:t>PHYSICS MODEL: 1D SAINT-VENANT HYDRAULICS</a:t>
            </a:r>
          </a:p>
          <a:p>
            <a:pPr>
              <a:spcAft>
                <a:spcPts val="600"/>
              </a:spcAft>
              <a:defRPr sz="1050">
                <a:solidFill>
                  <a:srgbClr val="F5F7FA"/>
                </a:solidFill>
                <a:latin typeface="Segoe UI"/>
              </a:defRPr>
            </a:pPr>
            <a:r>
              <a:t>• Enforces physical mass and momentum conservation along river channels.</a:t>
            </a:r>
          </a:p>
          <a:p>
            <a:pPr>
              <a:spcAft>
                <a:spcPts val="600"/>
              </a:spcAft>
              <a:defRPr sz="1050">
                <a:solidFill>
                  <a:srgbClr val="F5F7FA"/>
                </a:solidFill>
                <a:latin typeface="Segoe UI"/>
              </a:defRPr>
            </a:pPr>
            <a:r>
              <a:t>• Calculates plausible hydrodynamic bounds for river discharge (Q) and stage (h).</a:t>
            </a:r>
          </a:p>
          <a:p>
            <a:pPr>
              <a:spcAft>
                <a:spcPts val="600"/>
              </a:spcAft>
              <a:defRPr sz="1050">
                <a:solidFill>
                  <a:srgbClr val="F5F7FA"/>
                </a:solidFill>
                <a:latin typeface="Segoe UI"/>
              </a:defRPr>
            </a:pPr>
            <a:r>
              <a:t>• Prevents physically impossible predictions (e.g., negative depths, infinite surge).</a:t>
            </a:r>
          </a:p>
          <a:p>
            <a:pPr>
              <a:spcAft>
                <a:spcPts val="600"/>
              </a:spcAft>
              <a:defRPr sz="1050">
                <a:solidFill>
                  <a:srgbClr val="F5F7FA"/>
                </a:solidFill>
                <a:latin typeface="Segoe UI"/>
              </a:defRPr>
            </a:pPr>
            <a:r>
              <a:t>• Provides deterministic baseline accuracy (NSE = 0.89, RMSE = 0.32 m).</a:t>
            </a:r>
          </a:p>
          <a:p>
            <a:pPr>
              <a:spcAft>
                <a:spcPts val="600"/>
              </a:spcAft>
              <a:defRPr sz="1050">
                <a:solidFill>
                  <a:srgbClr val="F5F7FA"/>
                </a:solidFill>
                <a:latin typeface="Segoe UI"/>
              </a:defRPr>
            </a:pPr>
            <a:r>
              <a:t>• Operates independently of historical training distribution shifts.</a:t>
            </a:r>
          </a:p>
        </p:txBody>
      </p:sp>
      <p:sp>
        <p:nvSpPr>
          <p:cNvPr id="5" name="!!MLDomainCard"/>
          <p:cNvSpPr/>
          <p:nvPr/>
        </p:nvSpPr>
        <p:spPr>
          <a:xfrm>
            <a:off x="6217920" y="1737360"/>
            <a:ext cx="5212080" cy="3383280"/>
          </a:xfrm>
          <a:prstGeom prst="roundRect">
            <a:avLst>
              <a:gd name="adj" fmla="val 6000"/>
            </a:avLst>
          </a:prstGeom>
          <a:solidFill>
            <a:srgbClr val="161E2A">
              <a:alpha val="88000"/>
            </a:srgbClr>
          </a:solidFill>
          <a:ln w="15240">
            <a:solidFill>
              <a:srgbClr val="82BEFF"/>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300" b="1">
                <a:solidFill>
                  <a:srgbClr val="82BEFF"/>
                </a:solidFill>
                <a:latin typeface="Segoe UI"/>
              </a:defRPr>
            </a:pPr>
            <a:r>
              <a:t>MACHINE LEARNING: TEMPORAL LSTM PREDICTOR</a:t>
            </a:r>
          </a:p>
          <a:p>
            <a:pPr>
              <a:spcAft>
                <a:spcPts val="600"/>
              </a:spcAft>
              <a:defRPr sz="1050">
                <a:solidFill>
                  <a:srgbClr val="F5F7FA"/>
                </a:solidFill>
                <a:latin typeface="Segoe UI"/>
              </a:defRPr>
            </a:pPr>
            <a:r>
              <a:t>• Multi-layer LSTM captures complex temporal lag across upstream tributary inflows.</a:t>
            </a:r>
          </a:p>
          <a:p>
            <a:pPr>
              <a:spcAft>
                <a:spcPts val="600"/>
              </a:spcAft>
              <a:defRPr sz="1050">
                <a:solidFill>
                  <a:srgbClr val="F5F7FA"/>
                </a:solidFill>
                <a:latin typeface="Segoe UI"/>
              </a:defRPr>
            </a:pPr>
            <a:r>
              <a:t>• Output is strictly bounded within the Saint-Venant hydraulic search space.</a:t>
            </a:r>
          </a:p>
          <a:p>
            <a:pPr>
              <a:spcAft>
                <a:spcPts val="600"/>
              </a:spcAft>
              <a:defRPr sz="1050">
                <a:solidFill>
                  <a:srgbClr val="F5F7FA"/>
                </a:solidFill>
                <a:latin typeface="Segoe UI"/>
              </a:defRPr>
            </a:pPr>
            <a:r>
              <a:t>• Overcomes pure ML vulnerability to extreme, out-of-distribution cloudburst events.</a:t>
            </a:r>
          </a:p>
          <a:p>
            <a:pPr>
              <a:spcAft>
                <a:spcPts val="600"/>
              </a:spcAft>
              <a:defRPr sz="1050">
                <a:solidFill>
                  <a:srgbClr val="F5F7FA"/>
                </a:solidFill>
                <a:latin typeface="Segoe UI"/>
              </a:defRPr>
            </a:pPr>
            <a:r>
              <a:t>• Achieves superior predictive accuracy (NSE = 0.98, RMSE = 0.16 m).</a:t>
            </a:r>
          </a:p>
          <a:p>
            <a:pPr>
              <a:spcAft>
                <a:spcPts val="600"/>
              </a:spcAft>
              <a:defRPr sz="1050">
                <a:solidFill>
                  <a:srgbClr val="F5F7FA"/>
                </a:solidFill>
                <a:latin typeface="Segoe UI"/>
              </a:defRPr>
            </a:pPr>
            <a:r>
              <a:t>• Delivers 2.5-hour advance lead time with rapid inference suitable for real-time alerts.</a:t>
            </a:r>
          </a:p>
        </p:txBody>
      </p:sp>
      <p:sp>
        <p:nvSpPr>
          <p:cNvPr id="6" name="!!HybridSynthesisBanner"/>
          <p:cNvSpPr/>
          <p:nvPr/>
        </p:nvSpPr>
        <p:spPr>
          <a:xfrm>
            <a:off x="731520" y="5303520"/>
            <a:ext cx="10728655" cy="1097280"/>
          </a:xfrm>
          <a:prstGeom prst="roundRect">
            <a:avLst>
              <a:gd name="adj" fmla="val 6000"/>
            </a:avLst>
          </a:prstGeom>
          <a:solidFill>
            <a:srgbClr val="232D3E">
              <a:alpha val="92000"/>
            </a:srgbClr>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300"/>
              </a:spcAft>
              <a:defRPr sz="1200" b="1">
                <a:solidFill>
                  <a:srgbClr val="FF6B35"/>
                </a:solidFill>
                <a:latin typeface="Segoe UI"/>
              </a:defRPr>
            </a:pPr>
            <a:r>
              <a:t>WHY WE COMBINED PHYSICS AND MACHINE LEARNING</a:t>
            </a:r>
          </a:p>
          <a:p>
            <a:pPr>
              <a:defRPr sz="1050">
                <a:solidFill>
                  <a:srgbClr val="F5F7FA"/>
                </a:solidFill>
                <a:latin typeface="Segoe UI"/>
              </a:defRPr>
            </a:pPr>
            <a:r>
              <a:t>In empirical testing, unconstrained ML models gave unrealistic peak stage forecasts during rare cloudburst events (NSE = 0.71, RMSE = 0.84 m). Enforcing 1D Saint-Venant hydraulic constraints anchors predictions to physical laws, raising the Nash-Sutcliffe Efficiency to 0.98 and reducing peak RMSE to 0.16 m.</a:t>
            </a:r>
          </a:p>
        </p:txBody>
      </p:sp>
    </p:spTree>
  </p:cSld>
  <p:clrMapOvr>
    <a:masterClrMapping/>
  </p:clrMapOvr>
  <p:transition xmlns:p16="http://schemas.microsoft.com/office/powerpoint/2015/09/main" spd="med">
    <p16: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ISAerialFoundation" descr="gis_river_basin_aeria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3A4454">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INUNDATION MAPPING</a:t>
            </a:r>
          </a:p>
          <a:p>
            <a:pPr>
              <a:defRPr sz="2600" b="1">
                <a:solidFill>
                  <a:srgbClr val="F5F7FA"/>
                </a:solidFill>
                <a:latin typeface="Segoe UI"/>
              </a:defRPr>
            </a:pPr>
            <a:r>
              <a:t>GEOGRAPHIC INUNDATION &amp; ROAD WATER DEPTH ESTIMATION</a:t>
            </a:r>
          </a:p>
        </p:txBody>
      </p:sp>
      <p:sp>
        <p:nvSpPr>
          <p:cNvPr id="5" name="!!GISLayerStackPanel"/>
          <p:cNvSpPr/>
          <p:nvPr/>
        </p:nvSpPr>
        <p:spPr>
          <a:xfrm>
            <a:off x="731520" y="1737360"/>
            <a:ext cx="5120640" cy="4389120"/>
          </a:xfrm>
          <a:prstGeom prst="roundRect">
            <a:avLst>
              <a:gd name="adj" fmla="val 6000"/>
            </a:avLst>
          </a:prstGeom>
          <a:solidFill>
            <a:srgbClr val="141C28">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FC93C"/>
                </a:solidFill>
                <a:latin typeface="Segoe UI"/>
              </a:defRPr>
            </a:pPr>
            <a:r>
              <a:t>FOUR-LAYER GIS TRANSFORMATION PIPELINE</a:t>
            </a:r>
          </a:p>
          <a:p>
            <a:pPr>
              <a:spcAft>
                <a:spcPts val="200"/>
              </a:spcAft>
              <a:defRPr sz="1100" b="1">
                <a:solidFill>
                  <a:srgbClr val="F5F7FA"/>
                </a:solidFill>
                <a:latin typeface="Segoe UI"/>
              </a:defRPr>
            </a:pPr>
            <a:r>
              <a:t>LAYER 1: DIGITAL ELEVATION MODEL</a:t>
            </a:r>
          </a:p>
          <a:p>
            <a:pPr>
              <a:spcAft>
                <a:spcPts val="800"/>
              </a:spcAft>
              <a:defRPr sz="1000">
                <a:solidFill>
                  <a:srgbClr val="B4C3D7"/>
                </a:solidFill>
                <a:latin typeface="Segoe UI"/>
              </a:defRPr>
            </a:pPr>
            <a:r>
              <a:t>SRTM 30m topographic grid providing terrain elevations and catchment slope vectors.</a:t>
            </a:r>
          </a:p>
          <a:p>
            <a:pPr>
              <a:spcAft>
                <a:spcPts val="200"/>
              </a:spcAft>
              <a:defRPr sz="1100" b="1">
                <a:solidFill>
                  <a:srgbClr val="F5F7FA"/>
                </a:solidFill>
                <a:latin typeface="Segoe UI"/>
              </a:defRPr>
            </a:pPr>
            <a:r>
              <a:t>LAYER 2: HYDROLOGIC NETWORK</a:t>
            </a:r>
          </a:p>
          <a:p>
            <a:pPr>
              <a:spcAft>
                <a:spcPts val="800"/>
              </a:spcAft>
              <a:defRPr sz="1000">
                <a:solidFill>
                  <a:srgbClr val="B4C3D7"/>
                </a:solidFill>
                <a:latin typeface="Segoe UI"/>
              </a:defRPr>
            </a:pPr>
            <a:r>
              <a:t>Central Water Commission mapped river channels, confluences, and drainage paths.</a:t>
            </a:r>
          </a:p>
          <a:p>
            <a:pPr>
              <a:spcAft>
                <a:spcPts val="200"/>
              </a:spcAft>
              <a:defRPr sz="1100" b="1">
                <a:solidFill>
                  <a:srgbClr val="F5F7FA"/>
                </a:solidFill>
                <a:latin typeface="Segoe UI"/>
              </a:defRPr>
            </a:pPr>
            <a:r>
              <a:t>LAYER 3: PRECIPITATION &amp; INFILTRATION</a:t>
            </a:r>
          </a:p>
          <a:p>
            <a:pPr>
              <a:spcAft>
                <a:spcPts val="800"/>
              </a:spcAft>
              <a:defRPr sz="1000">
                <a:solidFill>
                  <a:srgbClr val="B4C3D7"/>
                </a:solidFill>
                <a:latin typeface="Segoe UI"/>
              </a:defRPr>
            </a:pPr>
            <a:r>
              <a:t>NASA GPM real-time satellite rainfall contours coupled with Green-Ampt soil absorption.</a:t>
            </a:r>
          </a:p>
          <a:p>
            <a:pPr>
              <a:spcAft>
                <a:spcPts val="200"/>
              </a:spcAft>
              <a:defRPr sz="1100" b="1">
                <a:solidFill>
                  <a:srgbClr val="F5F7FA"/>
                </a:solidFill>
                <a:latin typeface="Segoe UI"/>
              </a:defRPr>
            </a:pPr>
            <a:r>
              <a:t>LAYER 4: PLANAR DEPTH OVERLAY</a:t>
            </a:r>
          </a:p>
          <a:p>
            <a:pPr>
              <a:spcAft>
                <a:spcPts val="800"/>
              </a:spcAft>
              <a:defRPr sz="1000">
                <a:solidFill>
                  <a:srgbClr val="B4C3D7"/>
                </a:solidFill>
                <a:latin typeface="Segoe UI"/>
              </a:defRPr>
            </a:pPr>
            <a:r>
              <a:t>Projected water elevation surface intersected with local topography to map flood extent.</a:t>
            </a:r>
          </a:p>
        </p:txBody>
      </p:sp>
      <p:sp>
        <p:nvSpPr>
          <p:cNvPr id="6" name="!!RoadIntersectionCard"/>
          <p:cNvSpPr/>
          <p:nvPr/>
        </p:nvSpPr>
        <p:spPr>
          <a:xfrm>
            <a:off x="6217920" y="1737360"/>
            <a:ext cx="5212080" cy="4389120"/>
          </a:xfrm>
          <a:prstGeom prst="roundRect">
            <a:avLst>
              <a:gd name="adj" fmla="val 6000"/>
            </a:avLst>
          </a:prstGeom>
          <a:solidFill>
            <a:srgbClr val="141C28">
              <a:alpha val="88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1000"/>
              </a:spcAft>
              <a:defRPr sz="1300" b="1">
                <a:solidFill>
                  <a:srgbClr val="F5F7FA"/>
                </a:solidFill>
                <a:latin typeface="Segoe UI"/>
              </a:defRPr>
            </a:pPr>
            <a:r>
              <a:t>ROAD NETWORK INTERSECTION &amp; PASSABILITY</a:t>
            </a:r>
          </a:p>
          <a:p>
            <a:pPr>
              <a:spcAft>
                <a:spcPts val="200"/>
              </a:spcAft>
              <a:defRPr sz="1100" b="1">
                <a:solidFill>
                  <a:srgbClr val="FFC93C"/>
                </a:solidFill>
                <a:latin typeface="Segoe UI"/>
              </a:defRPr>
            </a:pPr>
            <a:r>
              <a:t>OpenStreetMap Network Ingestion</a:t>
            </a:r>
          </a:p>
          <a:p>
            <a:pPr>
              <a:spcAft>
                <a:spcPts val="800"/>
              </a:spcAft>
              <a:defRPr sz="1000">
                <a:solidFill>
                  <a:srgbClr val="BECDE1"/>
                </a:solidFill>
                <a:latin typeface="Segoe UI"/>
              </a:defRPr>
            </a:pPr>
            <a:r>
              <a:t>High-resolution road vectors are extracted and structured as a weighted directed graph across the target river basin.</a:t>
            </a:r>
          </a:p>
          <a:p>
            <a:pPr>
              <a:spcAft>
                <a:spcPts val="200"/>
              </a:spcAft>
              <a:defRPr sz="1100" b="1">
                <a:solidFill>
                  <a:srgbClr val="FFC93C"/>
                </a:solidFill>
                <a:latin typeface="Segoe UI"/>
              </a:defRPr>
            </a:pPr>
            <a:r>
              <a:t>Per-Segment Water Depth Estimation</a:t>
            </a:r>
          </a:p>
          <a:p>
            <a:pPr>
              <a:spcAft>
                <a:spcPts val="800"/>
              </a:spcAft>
              <a:defRPr sz="1000">
                <a:solidFill>
                  <a:srgbClr val="BECDE1"/>
                </a:solidFill>
                <a:latin typeface="Segoe UI"/>
              </a:defRPr>
            </a:pPr>
            <a:r>
              <a:t>The computed flood surface is intersected with road geometry, assigning each segment a predicted maximum water depth (d_est).</a:t>
            </a:r>
          </a:p>
          <a:p>
            <a:pPr>
              <a:spcAft>
                <a:spcPts val="200"/>
              </a:spcAft>
              <a:defRPr sz="1100" b="1">
                <a:solidFill>
                  <a:srgbClr val="FFC93C"/>
                </a:solidFill>
                <a:latin typeface="Segoe UI"/>
              </a:defRPr>
            </a:pPr>
            <a:r>
              <a:t>Passability Classification</a:t>
            </a:r>
          </a:p>
          <a:p>
            <a:pPr>
              <a:spcAft>
                <a:spcPts val="800"/>
              </a:spcAft>
              <a:defRPr sz="1000">
                <a:solidFill>
                  <a:srgbClr val="BECDE1"/>
                </a:solidFill>
                <a:latin typeface="Segoe UI"/>
              </a:defRPr>
            </a:pPr>
            <a:r>
              <a:t>Road segments are dynamically classified: dry (&lt;0.05m), citizen passable (&lt;0.15m), high-clearance rescue only (0.15–0.80m), and impassable (&gt;0.80m).</a:t>
            </a:r>
          </a:p>
          <a:p>
            <a:pPr>
              <a:spcAft>
                <a:spcPts val="200"/>
              </a:spcAft>
              <a:defRPr sz="1100" b="1">
                <a:solidFill>
                  <a:srgbClr val="FFC93C"/>
                </a:solidFill>
                <a:latin typeface="Segoe UI"/>
              </a:defRPr>
            </a:pPr>
            <a:r>
              <a:t>Dynamic Graph Edge Weighting</a:t>
            </a:r>
          </a:p>
          <a:p>
            <a:pPr>
              <a:spcAft>
                <a:spcPts val="800"/>
              </a:spcAft>
              <a:defRPr sz="1000">
                <a:solidFill>
                  <a:srgbClr val="BECDE1"/>
                </a:solidFill>
                <a:latin typeface="Segoe UI"/>
              </a:defRPr>
            </a:pPr>
            <a:r>
              <a:t>Edges exceeding vehicle profile depth thresholds receive infinite impedance, ensuring Dijkstra pathfinding routes around submerged corridors.</a:t>
            </a:r>
          </a:p>
        </p:txBody>
      </p:sp>
    </p:spTree>
  </p:cSld>
  <p:clrMapOvr>
    <a:masterClrMapping/>
  </p:clrMapOvr>
  <p:transition xmlns:p16="http://schemas.microsoft.com/office/powerpoint/2015/09/main" spd="med">
    <p16: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SURGE DETECTION</a:t>
            </a:r>
          </a:p>
          <a:p>
            <a:pPr>
              <a:defRPr sz="2600" b="1">
                <a:solidFill>
                  <a:srgbClr val="F5F7FA"/>
                </a:solidFill>
                <a:latin typeface="Segoe UI"/>
              </a:defRPr>
            </a:pPr>
            <a:r>
              <a:t>FOUR-STAGE RATE-OF-RISE SURGE THRESHOLDS</a:t>
            </a:r>
          </a:p>
        </p:txBody>
      </p:sp>
      <p:sp>
        <p:nvSpPr>
          <p:cNvPr id="4" name="!!ThresholdCol_NORM"/>
          <p:cNvSpPr/>
          <p:nvPr/>
        </p:nvSpPr>
        <p:spPr>
          <a:xfrm>
            <a:off x="731520" y="1737360"/>
            <a:ext cx="2499055" cy="4389120"/>
          </a:xfrm>
          <a:prstGeom prst="roundRect">
            <a:avLst>
              <a:gd name="adj" fmla="val 6000"/>
            </a:avLst>
          </a:prstGeom>
          <a:solidFill>
            <a:srgbClr val="18202D">
              <a:alpha val="88000"/>
            </a:srgbClr>
          </a:solidFill>
          <a:ln w="19050">
            <a:solidFill>
              <a:srgbClr val="64D28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400" b="1">
                <a:solidFill>
                  <a:srgbClr val="64D28C"/>
                </a:solidFill>
                <a:latin typeface="Segoe UI"/>
              </a:defRPr>
            </a:pPr>
            <a:r>
              <a:t>NORMAL</a:t>
            </a:r>
          </a:p>
          <a:p>
            <a:pPr>
              <a:spcAft>
                <a:spcPts val="1200"/>
              </a:spcAft>
              <a:defRPr sz="2200" b="1">
                <a:solidFill>
                  <a:srgbClr val="F5F7FA"/>
                </a:solidFill>
                <a:latin typeface="Segoe UI"/>
              </a:defRPr>
            </a:pPr>
            <a:r>
              <a:t>&lt; 0.30 m/hr</a:t>
            </a:r>
          </a:p>
          <a:p>
            <a:pPr>
              <a:defRPr sz="1100">
                <a:solidFill>
                  <a:srgbClr val="D2DCEB"/>
                </a:solidFill>
                <a:latin typeface="Segoe UI"/>
              </a:defRPr>
            </a:pPr>
            <a:r>
              <a:t>River stage rises within baseline seasonal absorption limits. System maintains routine 15-minute telemetry polling and background execution.</a:t>
            </a:r>
          </a:p>
        </p:txBody>
      </p:sp>
      <p:sp>
        <p:nvSpPr>
          <p:cNvPr id="5" name="!!ThresholdCol_WATC"/>
          <p:cNvSpPr/>
          <p:nvPr/>
        </p:nvSpPr>
        <p:spPr>
          <a:xfrm>
            <a:off x="3474720" y="1737360"/>
            <a:ext cx="2499055" cy="4389120"/>
          </a:xfrm>
          <a:prstGeom prst="roundRect">
            <a:avLst>
              <a:gd name="adj" fmla="val 6000"/>
            </a:avLst>
          </a:prstGeom>
          <a:solidFill>
            <a:srgbClr val="18202D">
              <a:alpha val="88000"/>
            </a:srgbClr>
          </a:solidFill>
          <a:ln w="1905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400" b="1">
                <a:solidFill>
                  <a:srgbClr val="FFC93C"/>
                </a:solidFill>
                <a:latin typeface="Segoe UI"/>
              </a:defRPr>
            </a:pPr>
            <a:r>
              <a:t>WATCH</a:t>
            </a:r>
          </a:p>
          <a:p>
            <a:pPr>
              <a:spcAft>
                <a:spcPts val="1200"/>
              </a:spcAft>
              <a:defRPr sz="2200" b="1">
                <a:solidFill>
                  <a:srgbClr val="F5F7FA"/>
                </a:solidFill>
                <a:latin typeface="Segoe UI"/>
              </a:defRPr>
            </a:pPr>
            <a:r>
              <a:t>≥ 0.30 m/hr</a:t>
            </a:r>
          </a:p>
          <a:p>
            <a:pPr>
              <a:defRPr sz="1100">
                <a:solidFill>
                  <a:srgbClr val="D2DCEB"/>
                </a:solidFill>
                <a:latin typeface="Segoe UI"/>
              </a:defRPr>
            </a:pPr>
            <a:r>
              <a:t>Upstream surge acceleration detected. District disaster dashboard flags the catchment and alerts field observers to monitor local riverbanks.</a:t>
            </a:r>
          </a:p>
        </p:txBody>
      </p:sp>
      <p:sp>
        <p:nvSpPr>
          <p:cNvPr id="6" name="!!ThresholdCol_ALER"/>
          <p:cNvSpPr/>
          <p:nvPr/>
        </p:nvSpPr>
        <p:spPr>
          <a:xfrm>
            <a:off x="6217920" y="1737360"/>
            <a:ext cx="2499055" cy="4389120"/>
          </a:xfrm>
          <a:prstGeom prst="roundRect">
            <a:avLst>
              <a:gd name="adj" fmla="val 6000"/>
            </a:avLst>
          </a:prstGeom>
          <a:solidFill>
            <a:srgbClr val="18202D">
              <a:alpha val="88000"/>
            </a:srgbClr>
          </a:solidFill>
          <a:ln w="19050">
            <a:solidFill>
              <a:srgbClr val="FF9632"/>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400" b="1">
                <a:solidFill>
                  <a:srgbClr val="FF9632"/>
                </a:solidFill>
                <a:latin typeface="Segoe UI"/>
              </a:defRPr>
            </a:pPr>
            <a:r>
              <a:t>ALERT</a:t>
            </a:r>
          </a:p>
          <a:p>
            <a:pPr>
              <a:spcAft>
                <a:spcPts val="1200"/>
              </a:spcAft>
              <a:defRPr sz="2200" b="1">
                <a:solidFill>
                  <a:srgbClr val="F5F7FA"/>
                </a:solidFill>
                <a:latin typeface="Segoe UI"/>
              </a:defRPr>
            </a:pPr>
            <a:r>
              <a:t>≥ 0.50 m/hr</a:t>
            </a:r>
          </a:p>
          <a:p>
            <a:pPr>
              <a:defRPr sz="1100">
                <a:solidFill>
                  <a:srgbClr val="D2DCEB"/>
                </a:solidFill>
                <a:latin typeface="Segoe UI"/>
              </a:defRPr>
            </a:pPr>
            <a:r>
              <a:t>Rapid water level rise indicates impending bankfull conditions. Emergency responders are placed on standby and candidate shelters are pre-notified.</a:t>
            </a:r>
          </a:p>
        </p:txBody>
      </p:sp>
      <p:sp>
        <p:nvSpPr>
          <p:cNvPr id="7" name="!!ThresholdCol_EMER"/>
          <p:cNvSpPr/>
          <p:nvPr/>
        </p:nvSpPr>
        <p:spPr>
          <a:xfrm>
            <a:off x="8961120" y="1737360"/>
            <a:ext cx="2499055" cy="4389120"/>
          </a:xfrm>
          <a:prstGeom prst="roundRect">
            <a:avLst>
              <a:gd name="adj" fmla="val 6000"/>
            </a:avLst>
          </a:prstGeom>
          <a:solidFill>
            <a:srgbClr val="18202D">
              <a:alpha val="88000"/>
            </a:srgbClr>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800"/>
              </a:spcAft>
              <a:defRPr sz="1400" b="1">
                <a:solidFill>
                  <a:srgbClr val="FF6B35"/>
                </a:solidFill>
                <a:latin typeface="Segoe UI"/>
              </a:defRPr>
            </a:pPr>
            <a:r>
              <a:t>EMERGENCY</a:t>
            </a:r>
          </a:p>
          <a:p>
            <a:pPr>
              <a:spcAft>
                <a:spcPts val="1200"/>
              </a:spcAft>
              <a:defRPr sz="2200" b="1">
                <a:solidFill>
                  <a:srgbClr val="F5F7FA"/>
                </a:solidFill>
                <a:latin typeface="Segoe UI"/>
              </a:defRPr>
            </a:pPr>
            <a:r>
              <a:t>≥ 0.85 m/hr</a:t>
            </a:r>
          </a:p>
          <a:p>
            <a:pPr>
              <a:defRPr sz="1100">
                <a:solidFill>
                  <a:srgbClr val="D2DCEB"/>
                </a:solidFill>
                <a:latin typeface="Segoe UI"/>
              </a:defRPr>
            </a:pPr>
            <a:r>
              <a:t>Critical flash-flood surge confirmed. Automated alert dispatch is triggered for public broadcast and evacuation routing without manual delay.</a:t>
            </a:r>
          </a:p>
        </p:txBody>
      </p:sp>
    </p:spTree>
  </p:cSld>
  <p:clrMapOvr>
    <a:masterClrMapping/>
  </p:clrMapOvr>
  <p:transition xmlns:p16="http://schemas.microsoft.com/office/powerpoint/2015/09/main" spd="med">
    <p16: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230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FF6B35"/>
                </a:solidFill>
                <a:latin typeface="Segoe UI"/>
              </a:defRPr>
            </a:pPr>
            <a:r>
              <a:t>EMERGENCY RESPONSE</a:t>
            </a:r>
          </a:p>
          <a:p>
            <a:pPr>
              <a:defRPr sz="2600" b="1">
                <a:solidFill>
                  <a:srgbClr val="F5F7FA"/>
                </a:solidFill>
                <a:latin typeface="Segoe UI"/>
              </a:defRPr>
            </a:pPr>
            <a:r>
              <a:t>AUTOMATED EMERGENCY ALERTING</a:t>
            </a:r>
          </a:p>
        </p:txBody>
      </p:sp>
      <p:sp>
        <p:nvSpPr>
          <p:cNvPr id="4" name="!!EmergencyTakeoverPanel"/>
          <p:cNvSpPr/>
          <p:nvPr/>
        </p:nvSpPr>
        <p:spPr>
          <a:xfrm>
            <a:off x="731520" y="1737360"/>
            <a:ext cx="10728655" cy="1920240"/>
          </a:xfrm>
          <a:prstGeom prst="roundRect">
            <a:avLst>
              <a:gd name="adj" fmla="val 6000"/>
            </a:avLst>
          </a:prstGeom>
          <a:solidFill>
            <a:srgbClr val="320F14">
              <a:alpha val="92000"/>
            </a:srgbClr>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500" b="1">
                <a:solidFill>
                  <a:srgbClr val="FF6B35"/>
                </a:solidFill>
                <a:latin typeface="Segoe UI"/>
              </a:defRPr>
            </a:pPr>
            <a:r>
              <a:t>CRITICAL SURGE THRESHOLDS SIMULTANEOUSLY EXCEEDED</a:t>
            </a:r>
          </a:p>
          <a:p>
            <a:pPr>
              <a:spcAft>
                <a:spcPts val="800"/>
              </a:spcAft>
              <a:defRPr sz="1600" b="1">
                <a:solidFill>
                  <a:srgbClr val="F5F7FA"/>
                </a:solidFill>
                <a:latin typeface="Segoe UI"/>
              </a:defRPr>
            </a:pPr>
            <a:r>
              <a:t>RATE OF RISE: ≥ 0.85 m/hr   |   SOIL SATURATION: ≥ 80%   |   RAINFALL INTENSITY: ≥ 60 mm/hr</a:t>
            </a:r>
          </a:p>
          <a:p>
            <a:pPr>
              <a:defRPr sz="1150">
                <a:solidFill>
                  <a:srgbClr val="E6CDCD"/>
                </a:solidFill>
                <a:latin typeface="Segoe UI"/>
              </a:defRPr>
            </a:pPr>
            <a:r>
              <a:t>When rate-of-rise, soil saturation, and rainfall intensity all cross their thresholds at once, the system automatically issues an emergency alert without waiting for manual approval.</a:t>
            </a:r>
          </a:p>
        </p:txBody>
      </p:sp>
      <p:sp>
        <p:nvSpPr>
          <p:cNvPr id="5" name="!!ActionBranchBroadcast"/>
          <p:cNvSpPr/>
          <p:nvPr/>
        </p:nvSpPr>
        <p:spPr>
          <a:xfrm>
            <a:off x="731520" y="3931920"/>
            <a:ext cx="5212080" cy="2286000"/>
          </a:xfrm>
          <a:prstGeom prst="roundRect">
            <a:avLst>
              <a:gd name="adj" fmla="val 6000"/>
            </a:avLst>
          </a:prstGeom>
          <a:solidFill>
            <a:srgbClr val="1E1216">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6B35"/>
                </a:solidFill>
                <a:latin typeface="Segoe UI"/>
              </a:defRPr>
            </a:pPr>
            <a:r>
              <a:t>ACTION 1: MULTI-CHANNEL PUBLIC WARNING</a:t>
            </a:r>
          </a:p>
          <a:p>
            <a:pPr>
              <a:spcAft>
                <a:spcPts val="400"/>
              </a:spcAft>
              <a:defRPr sz="1050">
                <a:solidFill>
                  <a:srgbClr val="F5F7FA"/>
                </a:solidFill>
                <a:latin typeface="Segoe UI"/>
              </a:defRPr>
            </a:pPr>
            <a:r>
              <a:t>• Generates standardized OASIS Common Alerting Protocol (CAP v1.2) XML payload.</a:t>
            </a:r>
          </a:p>
          <a:p>
            <a:pPr>
              <a:spcAft>
                <a:spcPts val="400"/>
              </a:spcAft>
              <a:defRPr sz="1050">
                <a:solidFill>
                  <a:srgbClr val="F5F7FA"/>
                </a:solidFill>
                <a:latin typeface="Segoe UI"/>
              </a:defRPr>
            </a:pPr>
            <a:r>
              <a:t>• Dispatches cellular SMS warnings in 7 regional languages to vulnerable blocks.</a:t>
            </a:r>
          </a:p>
          <a:p>
            <a:pPr>
              <a:spcAft>
                <a:spcPts val="400"/>
              </a:spcAft>
              <a:defRPr sz="1050">
                <a:solidFill>
                  <a:srgbClr val="F5F7FA"/>
                </a:solidFill>
                <a:latin typeface="Segoe UI"/>
              </a:defRPr>
            </a:pPr>
            <a:r>
              <a:t>• Actuates bilingual audible siren announcements (English &amp; Hindi) at station kiosks.</a:t>
            </a:r>
          </a:p>
        </p:txBody>
      </p:sp>
      <p:sp>
        <p:nvSpPr>
          <p:cNvPr id="6" name="!!ActionBranchEvacuation"/>
          <p:cNvSpPr/>
          <p:nvPr/>
        </p:nvSpPr>
        <p:spPr>
          <a:xfrm>
            <a:off x="6217920" y="3931920"/>
            <a:ext cx="5212080" cy="2286000"/>
          </a:xfrm>
          <a:prstGeom prst="roundRect">
            <a:avLst>
              <a:gd name="adj" fmla="val 6000"/>
            </a:avLst>
          </a:prstGeom>
          <a:solidFill>
            <a:srgbClr val="1E1216">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ACTION 2: PROFILE-AWARE EVACUATION ROUTING</a:t>
            </a:r>
          </a:p>
          <a:p>
            <a:pPr>
              <a:spcAft>
                <a:spcPts val="400"/>
              </a:spcAft>
              <a:defRPr sz="1050">
                <a:solidFill>
                  <a:srgbClr val="F5F7FA"/>
                </a:solidFill>
                <a:latin typeface="Segoe UI"/>
              </a:defRPr>
            </a:pPr>
            <a:r>
              <a:t>• Initiates depth-constrained Dijkstra pathfinding across the OpenStreetMap road graph.</a:t>
            </a:r>
          </a:p>
          <a:p>
            <a:pPr>
              <a:spcAft>
                <a:spcPts val="400"/>
              </a:spcAft>
              <a:defRPr sz="1050">
                <a:solidFill>
                  <a:srgbClr val="F5F7FA"/>
                </a:solidFill>
                <a:latin typeface="Segoe UI"/>
              </a:defRPr>
            </a:pPr>
            <a:r>
              <a:t>• Calculates separate, safe corridors for pedestrians (&lt;0.15m) and rescue vehicles (≤0.80m).</a:t>
            </a:r>
          </a:p>
          <a:p>
            <a:pPr>
              <a:spcAft>
                <a:spcPts val="400"/>
              </a:spcAft>
              <a:defRPr sz="1050">
                <a:solidFill>
                  <a:srgbClr val="F5F7FA"/>
                </a:solidFill>
                <a:latin typeface="Segoe UI"/>
              </a:defRPr>
            </a:pPr>
            <a:r>
              <a:t>• Dynamically allocates evacuees toward verified high-ground relief shelters (≥29.5m MSL).</a:t>
            </a:r>
          </a:p>
        </p:txBody>
      </p:sp>
    </p:spTree>
  </p:cSld>
  <p:clrMapOvr>
    <a:masterClrMapping/>
  </p:clrMapOvr>
  <p:transition xmlns:p16="http://schemas.microsoft.com/office/powerpoint/2015/09/main" spd="med">
    <p16:morph option="byObject"/>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FF6B35"/>
                </a:solidFill>
                <a:latin typeface="Segoe UI"/>
              </a:defRPr>
            </a:pPr>
            <a:r>
              <a:t>ALERT DISSEMINATION</a:t>
            </a:r>
          </a:p>
          <a:p>
            <a:pPr>
              <a:defRPr sz="2600" b="1">
                <a:solidFill>
                  <a:srgbClr val="F5F7FA"/>
                </a:solidFill>
                <a:latin typeface="Segoe UI"/>
              </a:defRPr>
            </a:pPr>
            <a:r>
              <a:t>MULTI-CHANNEL EMERGENCY ALERT BROADCAST</a:t>
            </a:r>
          </a:p>
        </p:txBody>
      </p:sp>
      <p:sp>
        <p:nvSpPr>
          <p:cNvPr id="4" name="!!BroadcastCard_STANDA"/>
          <p:cNvSpPr/>
          <p:nvPr/>
        </p:nvSpPr>
        <p:spPr>
          <a:xfrm>
            <a:off x="731520" y="1737360"/>
            <a:ext cx="3383280" cy="2743200"/>
          </a:xfrm>
          <a:prstGeom prst="roundRect">
            <a:avLst>
              <a:gd name="adj" fmla="val 6000"/>
            </a:avLst>
          </a:prstGeom>
          <a:solidFill>
            <a:srgbClr val="18202D">
              <a:alpha val="88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50" b="1">
                <a:solidFill>
                  <a:srgbClr val="FF6B35"/>
                </a:solidFill>
                <a:latin typeface="Segoe UI"/>
              </a:defRPr>
            </a:pPr>
            <a:r>
              <a:t>STANDARDIZED CAP v1.2 ALERT</a:t>
            </a:r>
          </a:p>
          <a:p>
            <a:pPr>
              <a:spcAft>
                <a:spcPts val="800"/>
              </a:spcAft>
              <a:defRPr sz="1000">
                <a:solidFill>
                  <a:srgbClr val="F5F7FA"/>
                </a:solidFill>
                <a:latin typeface="Segoe UI"/>
              </a:defRPr>
            </a:pPr>
            <a:r>
              <a:t>Machine-readable alert payload compliant with National Disaster Management Authority (NDMA Sachet) standard portal.</a:t>
            </a:r>
          </a:p>
          <a:p>
            <a:pPr>
              <a:spcAft>
                <a:spcPts val="300"/>
              </a:spcAft>
              <a:defRPr sz="950">
                <a:solidFill>
                  <a:srgbClr val="B4CDE6"/>
                </a:solidFill>
                <a:latin typeface="Segoe UI"/>
              </a:defRPr>
            </a:pPr>
            <a:r>
              <a:t>• Severity: Extreme | Urgency: Immediate</a:t>
            </a:r>
          </a:p>
          <a:p>
            <a:pPr>
              <a:spcAft>
                <a:spcPts val="300"/>
              </a:spcAft>
              <a:defRPr sz="950">
                <a:solidFill>
                  <a:srgbClr val="B4CDE6"/>
                </a:solidFill>
                <a:latin typeface="Segoe UI"/>
              </a:defRPr>
            </a:pPr>
            <a:r>
              <a:t>• Contains affected coordinate polygon</a:t>
            </a:r>
          </a:p>
          <a:p>
            <a:pPr>
              <a:spcAft>
                <a:spcPts val="300"/>
              </a:spcAft>
              <a:defRPr sz="950">
                <a:solidFill>
                  <a:srgbClr val="B4CDE6"/>
                </a:solidFill>
                <a:latin typeface="Segoe UI"/>
              </a:defRPr>
            </a:pPr>
            <a:r>
              <a:t>• Includes recommended protective actions</a:t>
            </a:r>
          </a:p>
        </p:txBody>
      </p:sp>
      <p:sp>
        <p:nvSpPr>
          <p:cNvPr id="5" name="!!BroadcastCard_SMS IN"/>
          <p:cNvSpPr/>
          <p:nvPr/>
        </p:nvSpPr>
        <p:spPr>
          <a:xfrm>
            <a:off x="4389120" y="1737360"/>
            <a:ext cx="3383280" cy="2743200"/>
          </a:xfrm>
          <a:prstGeom prst="roundRect">
            <a:avLst>
              <a:gd name="adj" fmla="val 6000"/>
            </a:avLst>
          </a:prstGeom>
          <a:solidFill>
            <a:srgbClr val="18202D">
              <a:alpha val="88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50" b="1">
                <a:solidFill>
                  <a:srgbClr val="FFC93C"/>
                </a:solidFill>
                <a:latin typeface="Segoe UI"/>
              </a:defRPr>
            </a:pPr>
            <a:r>
              <a:t>SMS IN 7 REGIONAL LANGUAGES</a:t>
            </a:r>
          </a:p>
          <a:p>
            <a:pPr>
              <a:spcAft>
                <a:spcPts val="800"/>
              </a:spcAft>
              <a:defRPr sz="1000">
                <a:solidFill>
                  <a:srgbClr val="F5F7FA"/>
                </a:solidFill>
                <a:latin typeface="Segoe UI"/>
              </a:defRPr>
            </a:pPr>
            <a:r>
              <a:t>Cellular text dispatch reaching communities without smartphones or mobile internet connectivity.</a:t>
            </a:r>
          </a:p>
          <a:p>
            <a:pPr>
              <a:spcAft>
                <a:spcPts val="300"/>
              </a:spcAft>
              <a:defRPr sz="950">
                <a:solidFill>
                  <a:srgbClr val="B4CDE6"/>
                </a:solidFill>
                <a:latin typeface="Segoe UI"/>
              </a:defRPr>
            </a:pPr>
            <a:r>
              <a:t>• Assamese, Bengali, Bodo, Meitei</a:t>
            </a:r>
          </a:p>
          <a:p>
            <a:pPr>
              <a:spcAft>
                <a:spcPts val="300"/>
              </a:spcAft>
              <a:defRPr sz="950">
                <a:solidFill>
                  <a:srgbClr val="B4CDE6"/>
                </a:solidFill>
                <a:latin typeface="Segoe UI"/>
              </a:defRPr>
            </a:pPr>
            <a:r>
              <a:t>• Sylheti, Hindi, and English</a:t>
            </a:r>
          </a:p>
          <a:p>
            <a:pPr>
              <a:spcAft>
                <a:spcPts val="300"/>
              </a:spcAft>
              <a:defRPr sz="950">
                <a:solidFill>
                  <a:srgbClr val="B4CDE6"/>
                </a:solidFill>
                <a:latin typeface="Segoe UI"/>
              </a:defRPr>
            </a:pPr>
            <a:r>
              <a:t>• Prioritized by cell tower proximity</a:t>
            </a:r>
          </a:p>
        </p:txBody>
      </p:sp>
      <p:sp>
        <p:nvSpPr>
          <p:cNvPr id="6" name="!!BroadcastCard_BILING"/>
          <p:cNvSpPr/>
          <p:nvPr/>
        </p:nvSpPr>
        <p:spPr>
          <a:xfrm>
            <a:off x="8046720" y="1737360"/>
            <a:ext cx="3383280" cy="2743200"/>
          </a:xfrm>
          <a:prstGeom prst="roundRect">
            <a:avLst>
              <a:gd name="adj" fmla="val 6000"/>
            </a:avLst>
          </a:prstGeom>
          <a:solidFill>
            <a:srgbClr val="18202D">
              <a:alpha val="88000"/>
            </a:srgbClr>
          </a:solidFill>
          <a:ln w="15240">
            <a:solidFill>
              <a:srgbClr val="78BEFF"/>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50" b="1">
                <a:solidFill>
                  <a:srgbClr val="78BEFF"/>
                </a:solidFill>
                <a:latin typeface="Segoe UI"/>
              </a:defRPr>
            </a:pPr>
            <a:r>
              <a:t>BILINGUAL AUDIO SIREN</a:t>
            </a:r>
          </a:p>
          <a:p>
            <a:pPr>
              <a:spcAft>
                <a:spcPts val="800"/>
              </a:spcAft>
              <a:defRPr sz="1000">
                <a:solidFill>
                  <a:srgbClr val="F5F7FA"/>
                </a:solidFill>
                <a:latin typeface="Segoe UI"/>
              </a:defRPr>
            </a:pPr>
            <a:r>
              <a:t>Local station audio evacuation siren with synthesized voice announcements for community assembly points.</a:t>
            </a:r>
          </a:p>
          <a:p>
            <a:pPr>
              <a:spcAft>
                <a:spcPts val="300"/>
              </a:spcAft>
              <a:defRPr sz="950">
                <a:solidFill>
                  <a:srgbClr val="B4CDE6"/>
                </a:solidFill>
                <a:latin typeface="Segoe UI"/>
              </a:defRPr>
            </a:pPr>
            <a:r>
              <a:t>• Dual-language audio: English &amp; Hindi</a:t>
            </a:r>
          </a:p>
          <a:p>
            <a:pPr>
              <a:spcAft>
                <a:spcPts val="300"/>
              </a:spcAft>
              <a:defRPr sz="950">
                <a:solidFill>
                  <a:srgbClr val="B4CDE6"/>
                </a:solidFill>
                <a:latin typeface="Segoe UI"/>
              </a:defRPr>
            </a:pPr>
            <a:r>
              <a:t>• Clear verbal evacuation instructions</a:t>
            </a:r>
          </a:p>
          <a:p>
            <a:pPr>
              <a:spcAft>
                <a:spcPts val="300"/>
              </a:spcAft>
              <a:defRPr sz="950">
                <a:solidFill>
                  <a:srgbClr val="B4CDE6"/>
                </a:solidFill>
                <a:latin typeface="Segoe UI"/>
              </a:defRPr>
            </a:pPr>
            <a:r>
              <a:t>• Synchronized countdown for local teams</a:t>
            </a:r>
          </a:p>
        </p:txBody>
      </p:sp>
      <p:sp>
        <p:nvSpPr>
          <p:cNvPr id="7" name="!!DisseminationFlowchart"/>
          <p:cNvSpPr/>
          <p:nvPr/>
        </p:nvSpPr>
        <p:spPr>
          <a:xfrm>
            <a:off x="731520" y="4754880"/>
            <a:ext cx="10728655" cy="1463040"/>
          </a:xfrm>
          <a:prstGeom prst="roundRect">
            <a:avLst>
              <a:gd name="adj" fmla="val 6000"/>
            </a:avLst>
          </a:prstGeom>
          <a:solidFill>
            <a:srgbClr val="121926">
              <a:alpha val="90000"/>
            </a:srgbClr>
          </a:solidFill>
          <a:ln w="1778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FF6B35"/>
                </a:solidFill>
                <a:latin typeface="Segoe UI"/>
              </a:defRPr>
            </a:pPr>
            <a:r>
              <a:t>PARALLEL ALERT DISSEMINATION PIPELINE</a:t>
            </a:r>
          </a:p>
          <a:p>
            <a:pPr>
              <a:spcAft>
                <a:spcPts val="400"/>
              </a:spcAft>
              <a:defRPr sz="1100" b="1">
                <a:solidFill>
                  <a:srgbClr val="F5F7FA"/>
                </a:solidFill>
                <a:latin typeface="Segoe UI"/>
              </a:defRPr>
            </a:pPr>
            <a:r>
              <a:t>Flood Surge Detected  →  CAP v1.2 Payload Generated  →  Concurrent Broadcast: [ NDMA Sachet Portal  |  Regional Cellular SMS  |  Local Audio Siren &amp; Dashboard ]</a:t>
            </a:r>
          </a:p>
          <a:p>
            <a:pPr>
              <a:defRPr sz="1000">
                <a:solidFill>
                  <a:srgbClr val="BED2EB"/>
                </a:solidFill>
                <a:latin typeface="Segoe UI"/>
              </a:defRPr>
            </a:pPr>
            <a:r>
              <a:t>All three dissemination channels execute concurrently in under 2 seconds, ensuring warnings reach both official response coordination portals and offline rural residents.</a:t>
            </a:r>
          </a:p>
        </p:txBody>
      </p:sp>
    </p:spTree>
  </p:cSld>
  <p:clrMapOvr>
    <a:masterClrMapping/>
  </p:clrMapOvr>
  <p:transition xmlns:p16="http://schemas.microsoft.com/office/powerpoint/2015/09/main" spd="med">
    <p16:morph option="byObjec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ISAerialEvac" descr="gis_river_basin_aeria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3A4454">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SAFE ROUTING</a:t>
            </a:r>
          </a:p>
          <a:p>
            <a:pPr>
              <a:defRPr sz="2600" b="1">
                <a:solidFill>
                  <a:srgbClr val="F5F7FA"/>
                </a:solidFill>
                <a:latin typeface="Segoe UI"/>
              </a:defRPr>
            </a:pPr>
            <a:r>
              <a:t>PROFILE-AWARE EVACUATION ROUTING</a:t>
            </a:r>
          </a:p>
        </p:txBody>
      </p:sp>
      <p:sp>
        <p:nvSpPr>
          <p:cNvPr id="5" name="!!EvacProfile_CITIZEN"/>
          <p:cNvSpPr/>
          <p:nvPr/>
        </p:nvSpPr>
        <p:spPr>
          <a:xfrm>
            <a:off x="731520" y="1737360"/>
            <a:ext cx="3383280" cy="2926080"/>
          </a:xfrm>
          <a:prstGeom prst="roundRect">
            <a:avLst>
              <a:gd name="adj" fmla="val 6000"/>
            </a:avLst>
          </a:prstGeom>
          <a:solidFill>
            <a:srgbClr val="141C2A">
              <a:alpha val="90000"/>
            </a:srgbClr>
          </a:solidFill>
          <a:ln w="1905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5F7FA"/>
                </a:solidFill>
                <a:latin typeface="Segoe UI"/>
              </a:defRPr>
            </a:pPr>
            <a:r>
              <a:t>CITIZEN / PEDESTRIAN</a:t>
            </a:r>
          </a:p>
          <a:p>
            <a:pPr>
              <a:spcAft>
                <a:spcPts val="800"/>
              </a:spcAft>
              <a:defRPr sz="1200" b="1">
                <a:solidFill>
                  <a:srgbClr val="F5F7FA"/>
                </a:solidFill>
                <a:latin typeface="Segoe UI"/>
              </a:defRPr>
            </a:pPr>
            <a:r>
              <a:t>DEPTH LIMIT: &lt; 0.15 m</a:t>
            </a:r>
          </a:p>
          <a:p>
            <a:pPr>
              <a:defRPr sz="1000">
                <a:solidFill>
                  <a:srgbClr val="D2DEEE"/>
                </a:solidFill>
                <a:latin typeface="Segoe UI"/>
              </a:defRPr>
            </a:pPr>
            <a:r>
              <a:t>Re-routes around flooded dips and submerged underpasses. Strictly guides pedestrians along elevated dry ridges to prevent water entrapment.</a:t>
            </a:r>
          </a:p>
        </p:txBody>
      </p:sp>
      <p:sp>
        <p:nvSpPr>
          <p:cNvPr id="6" name="!!EvacProfile_FAMILY "/>
          <p:cNvSpPr/>
          <p:nvPr/>
        </p:nvSpPr>
        <p:spPr>
          <a:xfrm>
            <a:off x="4389120" y="1737360"/>
            <a:ext cx="3383280" cy="2926080"/>
          </a:xfrm>
          <a:prstGeom prst="roundRect">
            <a:avLst>
              <a:gd name="adj" fmla="val 6000"/>
            </a:avLst>
          </a:prstGeom>
          <a:solidFill>
            <a:srgbClr val="141C2A">
              <a:alpha val="90000"/>
            </a:srgbClr>
          </a:solidFill>
          <a:ln w="1905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FAMILY VEHICLE / CAR</a:t>
            </a:r>
          </a:p>
          <a:p>
            <a:pPr>
              <a:spcAft>
                <a:spcPts val="800"/>
              </a:spcAft>
              <a:defRPr sz="1200" b="1">
                <a:solidFill>
                  <a:srgbClr val="FFC93C"/>
                </a:solidFill>
                <a:latin typeface="Segoe UI"/>
              </a:defRPr>
            </a:pPr>
            <a:r>
              <a:t>DEPTH LIMIT: &lt; 0.30 m</a:t>
            </a:r>
          </a:p>
          <a:p>
            <a:pPr>
              <a:defRPr sz="1000">
                <a:solidFill>
                  <a:srgbClr val="D2DEEE"/>
                </a:solidFill>
                <a:latin typeface="Segoe UI"/>
              </a:defRPr>
            </a:pPr>
            <a:r>
              <a:t>Allows transit through minor road ponding while strictly avoiding water depths that exceed standard exhaust and engine intake heights.</a:t>
            </a:r>
          </a:p>
        </p:txBody>
      </p:sp>
      <p:sp>
        <p:nvSpPr>
          <p:cNvPr id="7" name="!!EvacProfile_NDRF RE"/>
          <p:cNvSpPr/>
          <p:nvPr/>
        </p:nvSpPr>
        <p:spPr>
          <a:xfrm>
            <a:off x="8046720" y="1737360"/>
            <a:ext cx="3383280" cy="2926080"/>
          </a:xfrm>
          <a:prstGeom prst="roundRect">
            <a:avLst>
              <a:gd name="adj" fmla="val 6000"/>
            </a:avLst>
          </a:prstGeom>
          <a:solidFill>
            <a:srgbClr val="141C2A">
              <a:alpha val="90000"/>
            </a:srgbClr>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6B35"/>
                </a:solidFill>
                <a:latin typeface="Segoe UI"/>
              </a:defRPr>
            </a:pPr>
            <a:r>
              <a:t>NDRF RESCUE TRUCK</a:t>
            </a:r>
          </a:p>
          <a:p>
            <a:pPr>
              <a:spcAft>
                <a:spcPts val="800"/>
              </a:spcAft>
              <a:defRPr sz="1200" b="1">
                <a:solidFill>
                  <a:srgbClr val="FF6B35"/>
                </a:solidFill>
                <a:latin typeface="Segoe UI"/>
              </a:defRPr>
            </a:pPr>
            <a:r>
              <a:t>DEPTH LIMIT: ≤ 0.80 m</a:t>
            </a:r>
          </a:p>
          <a:p>
            <a:pPr>
              <a:defRPr sz="1000">
                <a:solidFill>
                  <a:srgbClr val="D2DEEE"/>
                </a:solidFill>
                <a:latin typeface="Segoe UI"/>
              </a:defRPr>
            </a:pPr>
            <a:r>
              <a:t>Permits heavy high-clearance rescue vehicles to navigate shallow flooded corridors, reducing travel time to isolated neighborhoods.</a:t>
            </a:r>
          </a:p>
        </p:txBody>
      </p:sp>
      <p:sp>
        <p:nvSpPr>
          <p:cNvPr id="8" name="!!DijkstraBenchmarkRibbon"/>
          <p:cNvSpPr/>
          <p:nvPr/>
        </p:nvSpPr>
        <p:spPr>
          <a:xfrm>
            <a:off x="731520" y="4892040"/>
            <a:ext cx="10728655" cy="1371600"/>
          </a:xfrm>
          <a:prstGeom prst="roundRect">
            <a:avLst>
              <a:gd name="adj" fmla="val 6000"/>
            </a:avLst>
          </a:prstGeom>
          <a:solidFill>
            <a:srgbClr val="121926">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FFC93C"/>
                </a:solidFill>
                <a:latin typeface="Segoe UI"/>
              </a:defRPr>
            </a:pPr>
            <a:r>
              <a:t>DIJKSTRA GRAPH ROUTING BENCHMARK (248,512 OSM EDGES)</a:t>
            </a:r>
          </a:p>
          <a:p>
            <a:pPr>
              <a:spcAft>
                <a:spcPts val="400"/>
              </a:spcAft>
              <a:defRPr sz="1300" b="1">
                <a:solidFill>
                  <a:srgbClr val="F5F7FA"/>
                </a:solidFill>
                <a:latin typeface="Segoe UI"/>
              </a:defRPr>
            </a:pPr>
            <a:r>
              <a:t>Query Latency: 194 ms ± 22 ms per request   |   Safe Route Discovery Rate: 99.4%   |   Graph Size: 248,512 edges</a:t>
            </a:r>
          </a:p>
          <a:p>
            <a:pPr>
              <a:defRPr sz="1000">
                <a:solidFill>
                  <a:srgbClr val="BED2EB"/>
                </a:solidFill>
                <a:latin typeface="Segoe UI"/>
              </a:defRPr>
            </a:pPr>
            <a:r>
              <a:t>Evaluated across 1,000 simulated trips in the target river basin. The engine assigns infinite impedance (cost = ∞) to edges exceeding the profile depth threshold, ensuring robust detour calculation in sub-second time.</a:t>
            </a:r>
          </a:p>
        </p:txBody>
      </p:sp>
    </p:spTree>
  </p:cSld>
  <p:clrMapOvr>
    <a:masterClrMapping/>
  </p:clrMapOvr>
  <p:transition xmlns:p16="http://schemas.microsoft.com/office/powerpoint/2015/09/main" spd="med">
    <p16:morph option="byObject"/>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RELIEF OPERATIONS</a:t>
            </a:r>
          </a:p>
          <a:p>
            <a:pPr>
              <a:defRPr sz="2600" b="1">
                <a:solidFill>
                  <a:srgbClr val="F5F7FA"/>
                </a:solidFill>
                <a:latin typeface="Segoe UI"/>
              </a:defRPr>
            </a:pPr>
            <a:r>
              <a:t>HIGH-GROUND SHELTER SELECTION &amp; OCCUPANCY TRACKING</a:t>
            </a:r>
          </a:p>
        </p:txBody>
      </p:sp>
      <p:sp>
        <p:nvSpPr>
          <p:cNvPr id="4" name="!!ShelterStep_1. C"/>
          <p:cNvSpPr/>
          <p:nvPr/>
        </p:nvSpPr>
        <p:spPr>
          <a:xfrm>
            <a:off x="731520" y="1737360"/>
            <a:ext cx="2499055" cy="2560320"/>
          </a:xfrm>
          <a:prstGeom prst="roundRect">
            <a:avLst>
              <a:gd name="adj" fmla="val 6000"/>
            </a:avLst>
          </a:prstGeom>
          <a:solidFill>
            <a:srgbClr val="18202E">
              <a:alpha val="88000"/>
            </a:srgbClr>
          </a:solidFill>
          <a:ln w="1524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00" b="1">
                <a:solidFill>
                  <a:srgbClr val="F5F7FA"/>
                </a:solidFill>
                <a:latin typeface="Segoe UI"/>
              </a:defRPr>
            </a:pPr>
            <a:r>
              <a:t>1. CANDIDATE REGISTRY</a:t>
            </a:r>
          </a:p>
          <a:p>
            <a:pPr>
              <a:defRPr sz="1000">
                <a:solidFill>
                  <a:srgbClr val="D2DEEE"/>
                </a:solidFill>
                <a:latin typeface="Segoe UI"/>
              </a:defRPr>
            </a:pPr>
            <a:r>
              <a:t>Official district disaster shelters, public schools, and elevated community halls identified from registry.</a:t>
            </a:r>
          </a:p>
        </p:txBody>
      </p:sp>
      <p:sp>
        <p:nvSpPr>
          <p:cNvPr id="5" name="!!ShelterStep_2. E"/>
          <p:cNvSpPr/>
          <p:nvPr/>
        </p:nvSpPr>
        <p:spPr>
          <a:xfrm>
            <a:off x="3474720" y="1737360"/>
            <a:ext cx="2499055" cy="2560320"/>
          </a:xfrm>
          <a:prstGeom prst="roundRect">
            <a:avLst>
              <a:gd name="adj" fmla="val 6000"/>
            </a:avLst>
          </a:prstGeom>
          <a:solidFill>
            <a:srgbClr val="18202E">
              <a:alpha val="88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00" b="1">
                <a:solidFill>
                  <a:srgbClr val="FFC93C"/>
                </a:solidFill>
                <a:latin typeface="Segoe UI"/>
              </a:defRPr>
            </a:pPr>
            <a:r>
              <a:t>2. ELEVATION FILTER</a:t>
            </a:r>
          </a:p>
          <a:p>
            <a:pPr>
              <a:defRPr sz="1000">
                <a:solidFill>
                  <a:srgbClr val="D2DEEE"/>
                </a:solidFill>
                <a:latin typeface="Segoe UI"/>
              </a:defRPr>
            </a:pPr>
            <a:r>
              <a:t>Plinth elevation must exceed projected maximum flood stage (plinth elevation ≥ 29.5 m MSL).</a:t>
            </a:r>
          </a:p>
        </p:txBody>
      </p:sp>
      <p:sp>
        <p:nvSpPr>
          <p:cNvPr id="6" name="!!ShelterStep_3. A"/>
          <p:cNvSpPr/>
          <p:nvPr/>
        </p:nvSpPr>
        <p:spPr>
          <a:xfrm>
            <a:off x="6217920" y="1737360"/>
            <a:ext cx="2499055" cy="2560320"/>
          </a:xfrm>
          <a:prstGeom prst="roundRect">
            <a:avLst>
              <a:gd name="adj" fmla="val 6000"/>
            </a:avLst>
          </a:prstGeom>
          <a:solidFill>
            <a:srgbClr val="18202E">
              <a:alpha val="88000"/>
            </a:srgbClr>
          </a:solidFill>
          <a:ln w="15240">
            <a:solidFill>
              <a:srgbClr val="FF9632"/>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00" b="1">
                <a:solidFill>
                  <a:srgbClr val="FF9632"/>
                </a:solidFill>
                <a:latin typeface="Segoe UI"/>
              </a:defRPr>
            </a:pPr>
            <a:r>
              <a:t>3. ACCESS ROAD CHECK</a:t>
            </a:r>
          </a:p>
          <a:p>
            <a:pPr>
              <a:defRPr sz="1000">
                <a:solidFill>
                  <a:srgbClr val="D2DEEE"/>
                </a:solidFill>
                <a:latin typeface="Segoe UI"/>
              </a:defRPr>
            </a:pPr>
            <a:r>
              <a:t>At least one ingress road connection must remain dry (water depth &lt; 0.15 m) throughout surge.</a:t>
            </a:r>
          </a:p>
        </p:txBody>
      </p:sp>
      <p:sp>
        <p:nvSpPr>
          <p:cNvPr id="7" name="!!ShelterStep_4. V"/>
          <p:cNvSpPr/>
          <p:nvPr/>
        </p:nvSpPr>
        <p:spPr>
          <a:xfrm>
            <a:off x="8961120" y="1737360"/>
            <a:ext cx="2499055" cy="2560320"/>
          </a:xfrm>
          <a:prstGeom prst="roundRect">
            <a:avLst>
              <a:gd name="adj" fmla="val 6000"/>
            </a:avLst>
          </a:prstGeom>
          <a:solidFill>
            <a:srgbClr val="18202E">
              <a:alpha val="88000"/>
            </a:srgbClr>
          </a:solidFill>
          <a:ln w="15240">
            <a:solidFill>
              <a:srgbClr val="64DC96"/>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200" b="1">
                <a:solidFill>
                  <a:srgbClr val="64DC96"/>
                </a:solidFill>
                <a:latin typeface="Segoe UI"/>
              </a:defRPr>
            </a:pPr>
            <a:r>
              <a:t>4. VERIFIED SAFE SHELTER</a:t>
            </a:r>
          </a:p>
          <a:p>
            <a:pPr>
              <a:defRPr sz="1000">
                <a:solidFill>
                  <a:srgbClr val="D2DEEE"/>
                </a:solidFill>
                <a:latin typeface="Segoe UI"/>
              </a:defRPr>
            </a:pPr>
            <a:r>
              <a:t>Only facilities passing both elevation and access road verification are approved for routing.</a:t>
            </a:r>
          </a:p>
        </p:txBody>
      </p:sp>
      <p:sp>
        <p:nvSpPr>
          <p:cNvPr id="8" name="!!ShelterCapacityBar"/>
          <p:cNvSpPr/>
          <p:nvPr/>
        </p:nvSpPr>
        <p:spPr>
          <a:xfrm>
            <a:off x="731520" y="4526280"/>
            <a:ext cx="10728655" cy="1737360"/>
          </a:xfrm>
          <a:prstGeom prst="roundRect">
            <a:avLst>
              <a:gd name="adj" fmla="val 6000"/>
            </a:avLst>
          </a:prstGeom>
          <a:solidFill>
            <a:srgbClr val="141C28">
              <a:alpha val="90000"/>
            </a:srgbClr>
          </a:solidFill>
          <a:ln w="1524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REAL-TIME SHELTER CAPACITY &amp; DYNAMIC RE-ROUTING</a:t>
            </a:r>
          </a:p>
          <a:p>
            <a:pPr>
              <a:spcAft>
                <a:spcPts val="600"/>
              </a:spcAft>
              <a:defRPr sz="1100" b="1">
                <a:solidFill>
                  <a:srgbClr val="F5F7FA"/>
                </a:solidFill>
                <a:latin typeface="Segoe UI"/>
              </a:defRPr>
            </a:pPr>
            <a:r>
              <a:t>Guwahati Shelter: 72% Capacity (Operational)   |   Tezpur High School: 65% Capacity (Operational)</a:t>
            </a:r>
            <a:br/>
            <a:r>
              <a:t>Dhubri Regional Camp: 88% Capacity (Near Limit)   |   Silchar Relief Enclave: 30% Capacity (Open)</a:t>
            </a:r>
          </a:p>
          <a:p>
            <a:pPr>
              <a:defRPr sz="1000">
                <a:solidFill>
                  <a:srgbClr val="BED2EB"/>
                </a:solidFill>
                <a:latin typeface="Segoe UI"/>
              </a:defRPr>
            </a:pPr>
            <a:r>
              <a:t>Dynamic Load Balancing: When a shelter approaches 85% capacity (e.g. Dhubri at 88%), the routing engine automatically redirects incoming evacuee groups to the nearest alternative safe shelter, preventing facility overcrowding.</a:t>
            </a:r>
          </a:p>
        </p:txBody>
      </p:sp>
    </p:spTree>
  </p:cSld>
  <p:clrMapOvr>
    <a:masterClrMapping/>
  </p:clrMapOvr>
  <p:transition xmlns:p16="http://schemas.microsoft.com/office/powerpoint/2015/09/main" spd="med">
    <p16:morph option="byObject"/>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Canvas"/>
          <p:cNvSpPr/>
          <p:nvPr/>
        </p:nvSpPr>
        <p:spPr>
          <a:xfrm>
            <a:off x="0" y="0"/>
            <a:ext cx="12191695" cy="6858000"/>
          </a:xfrm>
          <a:prstGeom prst="rect">
            <a:avLst/>
          </a:prstGeom>
          <a:solidFill>
            <a:srgbClr val="3A4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DATA VALIDATION</a:t>
            </a:r>
          </a:p>
          <a:p>
            <a:pPr>
              <a:defRPr sz="2600" b="1">
                <a:solidFill>
                  <a:srgbClr val="F5F7FA"/>
                </a:solidFill>
                <a:latin typeface="Segoe UI"/>
              </a:defRPr>
            </a:pPr>
            <a:r>
              <a:t>FIELD REPORT CROSS-VERIFICATION</a:t>
            </a:r>
          </a:p>
        </p:txBody>
      </p:sp>
      <p:sp>
        <p:nvSpPr>
          <p:cNvPr id="4" name="!!ValidationStep_1. C"/>
          <p:cNvSpPr/>
          <p:nvPr/>
        </p:nvSpPr>
        <p:spPr>
          <a:xfrm>
            <a:off x="731520" y="1737360"/>
            <a:ext cx="3383280" cy="2926080"/>
          </a:xfrm>
          <a:prstGeom prst="roundRect">
            <a:avLst>
              <a:gd name="adj" fmla="val 6000"/>
            </a:avLst>
          </a:prstGeom>
          <a:solidFill>
            <a:srgbClr val="18202E">
              <a:alpha val="88000"/>
            </a:srgbClr>
          </a:solidFill>
          <a:ln w="15240">
            <a:solidFill>
              <a:srgbClr val="78A0C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1. CITIZEN FIELD REPORT</a:t>
            </a:r>
          </a:p>
          <a:p>
            <a:pPr>
              <a:spcAft>
                <a:spcPts val="800"/>
              </a:spcAft>
              <a:defRPr sz="1000">
                <a:solidFill>
                  <a:srgbClr val="F5F7FA"/>
                </a:solidFill>
                <a:latin typeface="Segoe UI"/>
              </a:defRPr>
            </a:pPr>
            <a:r>
              <a:t>Volunteers and local residents submit water level observations via mobile web form, capturing GPS location, timestamp, and photograph.</a:t>
            </a:r>
          </a:p>
          <a:p>
            <a:pPr>
              <a:spcAft>
                <a:spcPts val="300"/>
              </a:spcAft>
              <a:defRPr sz="950">
                <a:solidFill>
                  <a:srgbClr val="AAC8E6"/>
                </a:solidFill>
                <a:latin typeface="Segoe UI"/>
              </a:defRPr>
            </a:pPr>
            <a:r>
              <a:t>• Local geotagged coordinate</a:t>
            </a:r>
          </a:p>
          <a:p>
            <a:pPr>
              <a:spcAft>
                <a:spcPts val="300"/>
              </a:spcAft>
              <a:defRPr sz="950">
                <a:solidFill>
                  <a:srgbClr val="AAC8E6"/>
                </a:solidFill>
                <a:latin typeface="Segoe UI"/>
              </a:defRPr>
            </a:pPr>
            <a:r>
              <a:t>• Observed water depth estimate</a:t>
            </a:r>
          </a:p>
          <a:p>
            <a:pPr>
              <a:spcAft>
                <a:spcPts val="300"/>
              </a:spcAft>
              <a:defRPr sz="950">
                <a:solidFill>
                  <a:srgbClr val="AAC8E6"/>
                </a:solidFill>
                <a:latin typeface="Segoe UI"/>
              </a:defRPr>
            </a:pPr>
            <a:r>
              <a:t>• Timestamped field photograph</a:t>
            </a:r>
          </a:p>
        </p:txBody>
      </p:sp>
      <p:sp>
        <p:nvSpPr>
          <p:cNvPr id="5" name="!!ValidationStep_2. S"/>
          <p:cNvSpPr/>
          <p:nvPr/>
        </p:nvSpPr>
        <p:spPr>
          <a:xfrm>
            <a:off x="4389120" y="1737360"/>
            <a:ext cx="3383280" cy="2926080"/>
          </a:xfrm>
          <a:prstGeom prst="roundRect">
            <a:avLst>
              <a:gd name="adj" fmla="val 6000"/>
            </a:avLst>
          </a:prstGeom>
          <a:solidFill>
            <a:srgbClr val="18202E">
              <a:alpha val="88000"/>
            </a:srgbClr>
          </a:solidFill>
          <a:ln w="15240">
            <a:solidFill>
              <a:srgbClr val="78A0C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2. SENSOR CROSS-CHECK</a:t>
            </a:r>
          </a:p>
          <a:p>
            <a:pPr>
              <a:spcAft>
                <a:spcPts val="800"/>
              </a:spcAft>
              <a:defRPr sz="1000">
                <a:solidFill>
                  <a:srgbClr val="F5F7FA"/>
                </a:solidFill>
                <a:latin typeface="Segoe UI"/>
              </a:defRPr>
            </a:pPr>
            <a:r>
              <a:t>The system cross-references reported depth against the nearest CWC river gauge (within 5 km) and Sentinel-3 radar trend.</a:t>
            </a:r>
          </a:p>
          <a:p>
            <a:pPr>
              <a:spcAft>
                <a:spcPts val="300"/>
              </a:spcAft>
              <a:defRPr sz="950">
                <a:solidFill>
                  <a:srgbClr val="AAC8E6"/>
                </a:solidFill>
                <a:latin typeface="Segoe UI"/>
              </a:defRPr>
            </a:pPr>
            <a:r>
              <a:t>• Proximity gauge correlation</a:t>
            </a:r>
          </a:p>
          <a:p>
            <a:pPr>
              <a:spcAft>
                <a:spcPts val="300"/>
              </a:spcAft>
              <a:defRPr sz="950">
                <a:solidFill>
                  <a:srgbClr val="AAC8E6"/>
                </a:solidFill>
                <a:latin typeface="Segoe UI"/>
              </a:defRPr>
            </a:pPr>
            <a:r>
              <a:t>• Satellite radar trend check</a:t>
            </a:r>
          </a:p>
          <a:p>
            <a:pPr>
              <a:spcAft>
                <a:spcPts val="300"/>
              </a:spcAft>
              <a:defRPr sz="950">
                <a:solidFill>
                  <a:srgbClr val="AAC8E6"/>
                </a:solidFill>
                <a:latin typeface="Segoe UI"/>
              </a:defRPr>
            </a:pPr>
            <a:r>
              <a:t>• Filters impossible surge rates</a:t>
            </a:r>
          </a:p>
        </p:txBody>
      </p:sp>
      <p:sp>
        <p:nvSpPr>
          <p:cNvPr id="6" name="!!ValidationStep_3. S"/>
          <p:cNvSpPr/>
          <p:nvPr/>
        </p:nvSpPr>
        <p:spPr>
          <a:xfrm>
            <a:off x="8046720" y="1737360"/>
            <a:ext cx="3383280" cy="2926080"/>
          </a:xfrm>
          <a:prstGeom prst="roundRect">
            <a:avLst>
              <a:gd name="adj" fmla="val 6000"/>
            </a:avLst>
          </a:prstGeom>
          <a:solidFill>
            <a:srgbClr val="18202E">
              <a:alpha val="88000"/>
            </a:srgbClr>
          </a:solidFill>
          <a:ln w="15240">
            <a:solidFill>
              <a:srgbClr val="78A0C8"/>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600"/>
              </a:spcAft>
              <a:defRPr sz="1300" b="1">
                <a:solidFill>
                  <a:srgbClr val="FFC93C"/>
                </a:solidFill>
                <a:latin typeface="Segoe UI"/>
              </a:defRPr>
            </a:pPr>
            <a:r>
              <a:t>3. SITUATIONAL MAP UPDATE</a:t>
            </a:r>
          </a:p>
          <a:p>
            <a:pPr>
              <a:spcAft>
                <a:spcPts val="800"/>
              </a:spcAft>
              <a:defRPr sz="1000">
                <a:solidFill>
                  <a:srgbClr val="F5F7FA"/>
                </a:solidFill>
                <a:latin typeface="Segoe UI"/>
              </a:defRPr>
            </a:pPr>
            <a:r>
              <a:t>Corroborated reports update the live district flood map with verified status. Uncorroborated submissions are held for review.</a:t>
            </a:r>
          </a:p>
          <a:p>
            <a:pPr>
              <a:spcAft>
                <a:spcPts val="300"/>
              </a:spcAft>
              <a:defRPr sz="950">
                <a:solidFill>
                  <a:srgbClr val="AAC8E6"/>
                </a:solidFill>
                <a:latin typeface="Segoe UI"/>
              </a:defRPr>
            </a:pPr>
            <a:r>
              <a:t>• Calibrates local depth layer</a:t>
            </a:r>
          </a:p>
          <a:p>
            <a:pPr>
              <a:spcAft>
                <a:spcPts val="300"/>
              </a:spcAft>
              <a:defRPr sz="950">
                <a:solidFill>
                  <a:srgbClr val="AAC8E6"/>
                </a:solidFill>
                <a:latin typeface="Segoe UI"/>
              </a:defRPr>
            </a:pPr>
            <a:r>
              <a:t>• Flags localized drainage blocks</a:t>
            </a:r>
          </a:p>
          <a:p>
            <a:pPr>
              <a:spcAft>
                <a:spcPts val="300"/>
              </a:spcAft>
              <a:defRPr sz="950">
                <a:solidFill>
                  <a:srgbClr val="AAC8E6"/>
                </a:solidFill>
                <a:latin typeface="Segoe UI"/>
              </a:defRPr>
            </a:pPr>
            <a:r>
              <a:t>• Prevents false panic rumors</a:t>
            </a:r>
          </a:p>
        </p:txBody>
      </p:sp>
      <p:sp>
        <p:nvSpPr>
          <p:cNvPr id="7" name="!!ValidationSummaryBanner"/>
          <p:cNvSpPr/>
          <p:nvPr/>
        </p:nvSpPr>
        <p:spPr>
          <a:xfrm>
            <a:off x="731520" y="4892040"/>
            <a:ext cx="10728655" cy="1371600"/>
          </a:xfrm>
          <a:prstGeom prst="roundRect">
            <a:avLst>
              <a:gd name="adj" fmla="val 6000"/>
            </a:avLst>
          </a:prstGeom>
          <a:solidFill>
            <a:srgbClr val="121A26">
              <a:alpha val="90000"/>
            </a:srgbClr>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200" b="1">
                <a:solidFill>
                  <a:srgbClr val="FF6B35"/>
                </a:solidFill>
                <a:latin typeface="Segoe UI"/>
              </a:defRPr>
            </a:pPr>
            <a:r>
              <a:t>GROUND-TRUTH VALIDATION WITHOUT FALSE ALARMS</a:t>
            </a:r>
          </a:p>
          <a:p>
            <a:pPr>
              <a:defRPr sz="1050">
                <a:solidFill>
                  <a:srgbClr val="F5F7FA"/>
                </a:solidFill>
                <a:latin typeface="Segoe UI"/>
              </a:defRPr>
            </a:pPr>
            <a:r>
              <a:t>Crowdsourced reports fill observational gaps in un-gauged micro-tributaries, but uncorroborated submissions cannot directly trigger public alarms. By validating citizen inputs against physical river gauges and radar altimetry, the system maintains high data reliability while benefiting from on-the-ground volunteer reporting.</a:t>
            </a:r>
          </a:p>
        </p:txBody>
      </p:sp>
    </p:spTree>
  </p:cSld>
  <p:clrMapOvr>
    <a:masterClrMapping/>
  </p:clrMapOvr>
  <p:transition xmlns:p16="http://schemas.microsoft.com/office/powerpoint/2015/09/main" spd="med">
    <p16:morph option="byObject"/>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iverBasinLandscape" descr="hero_flash_flood.jpg"/>
          <p:cNvPicPr>
            <a:picLocks noChangeAspect="1"/>
          </p:cNvPicPr>
          <p:nvPr/>
        </p:nvPicPr>
        <p:blipFill>
          <a:blip r:embed="rId2"/>
          <a:stretch>
            <a:fillRect/>
          </a:stretch>
        </p:blipFill>
        <p:spPr>
          <a:xfrm>
            <a:off x="0" y="0"/>
            <a:ext cx="12191695" cy="6858000"/>
          </a:xfrm>
          <a:prstGeom prst="rect">
            <a:avLst/>
          </a:prstGeom>
        </p:spPr>
      </p:pic>
      <p:sp>
        <p:nvSpPr>
          <p:cNvPr id="3" name="!!AtmosphericOverlay"/>
          <p:cNvSpPr/>
          <p:nvPr/>
        </p:nvSpPr>
        <p:spPr>
          <a:xfrm>
            <a:off x="0" y="0"/>
            <a:ext cx="12191695" cy="6858000"/>
          </a:xfrm>
          <a:prstGeom prst="rect">
            <a:avLst/>
          </a:prstGeom>
          <a:solidFill>
            <a:srgbClr val="3A4454">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lideHeader"/>
          <p:cNvSpPr txBox="1"/>
          <p:nvPr/>
        </p:nvSpPr>
        <p:spPr>
          <a:xfrm>
            <a:off x="731520" y="475488"/>
            <a:ext cx="10728655" cy="1097280"/>
          </a:xfrm>
          <a:prstGeom prst="rect">
            <a:avLst/>
          </a:prstGeom>
          <a:noFill/>
        </p:spPr>
        <p:txBody>
          <a:bodyPr wrap="square" lIns="0" rIns="0" tIns="0" bIns="0">
            <a:spAutoFit/>
          </a:bodyPr>
          <a:lstStyle/>
          <a:p>
            <a:pPr>
              <a:spcAft>
                <a:spcPts val="400"/>
              </a:spcAft>
              <a:defRPr sz="1100" b="1">
                <a:solidFill>
                  <a:srgbClr val="A0B4CD"/>
                </a:solidFill>
                <a:latin typeface="Segoe UI"/>
              </a:defRPr>
            </a:pPr>
            <a:r>
              <a:t>SYSTEM SUMMARY</a:t>
            </a:r>
          </a:p>
          <a:p>
            <a:pPr>
              <a:defRPr sz="2600" b="1">
                <a:solidFill>
                  <a:srgbClr val="F5F7FA"/>
                </a:solidFill>
                <a:latin typeface="Segoe UI"/>
              </a:defRPr>
            </a:pPr>
            <a:r>
              <a:t>END-TO-END EARLY WARNING &amp; EVACUATION WORKFLOW</a:t>
            </a:r>
          </a:p>
        </p:txBody>
      </p:sp>
      <p:sp>
        <p:nvSpPr>
          <p:cNvPr id="5" name="!!LoopMilestone_0"/>
          <p:cNvSpPr/>
          <p:nvPr/>
        </p:nvSpPr>
        <p:spPr>
          <a:xfrm>
            <a:off x="731520" y="1920240"/>
            <a:ext cx="1965960" cy="3017520"/>
          </a:xfrm>
          <a:prstGeom prst="roundRect">
            <a:avLst>
              <a:gd name="adj" fmla="val 6000"/>
            </a:avLst>
          </a:prstGeom>
          <a:solidFill>
            <a:srgbClr val="141C2A">
              <a:alpha val="90000"/>
            </a:srgbClr>
          </a:solidFill>
          <a:ln w="1778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01</a:t>
            </a:r>
            <a:br/>
            <a:r>
              <a:t>INGESTION</a:t>
            </a:r>
          </a:p>
          <a:p>
            <a:pPr>
              <a:spcAft>
                <a:spcPts val="600"/>
              </a:spcAft>
              <a:defRPr sz="950" b="1">
                <a:solidFill>
                  <a:srgbClr val="A0CDEB"/>
                </a:solidFill>
                <a:latin typeface="Segoe UI"/>
              </a:defRPr>
            </a:pPr>
            <a:r>
              <a:t>CWC Gauges + IMD AWS + Sentinel-3 SAR Altimetry</a:t>
            </a:r>
          </a:p>
          <a:p>
            <a:pPr>
              <a:defRPr sz="900">
                <a:solidFill>
                  <a:srgbClr val="F5F7FA"/>
                </a:solidFill>
                <a:latin typeface="Segoe UI"/>
              </a:defRPr>
            </a:pPr>
            <a:r>
              <a:t>Multi-source telemetry with 420 ms automated failover to spaceborne radar if ground gauges drop offline.</a:t>
            </a:r>
          </a:p>
        </p:txBody>
      </p:sp>
      <p:sp>
        <p:nvSpPr>
          <p:cNvPr id="6" name="!!LoopMilestone_1"/>
          <p:cNvSpPr/>
          <p:nvPr/>
        </p:nvSpPr>
        <p:spPr>
          <a:xfrm>
            <a:off x="2926080" y="1920240"/>
            <a:ext cx="1965960" cy="3017520"/>
          </a:xfrm>
          <a:prstGeom prst="roundRect">
            <a:avLst>
              <a:gd name="adj" fmla="val 6000"/>
            </a:avLst>
          </a:prstGeom>
          <a:solidFill>
            <a:srgbClr val="141C2A">
              <a:alpha val="90000"/>
            </a:srgbClr>
          </a:solidFill>
          <a:ln w="1778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02</a:t>
            </a:r>
            <a:br/>
            <a:r>
              <a:t>HYDRAULICS</a:t>
            </a:r>
          </a:p>
          <a:p>
            <a:pPr>
              <a:spcAft>
                <a:spcPts val="600"/>
              </a:spcAft>
              <a:defRPr sz="950" b="1">
                <a:solidFill>
                  <a:srgbClr val="A0CDEB"/>
                </a:solidFill>
                <a:latin typeface="Segoe UI"/>
              </a:defRPr>
            </a:pPr>
            <a:r>
              <a:t>1D Saint-Venant Routing + Dynamic Rate-of-Rise</a:t>
            </a:r>
          </a:p>
          <a:p>
            <a:pPr>
              <a:defRPr sz="900">
                <a:solidFill>
                  <a:srgbClr val="F5F7FA"/>
                </a:solidFill>
                <a:latin typeface="Segoe UI"/>
              </a:defRPr>
            </a:pPr>
            <a:r>
              <a:t>Downstream wave celerity (c ≈ 5.3 m/s) and rolling rate-of-rise derivative detect sudden cloudburst surges.</a:t>
            </a:r>
          </a:p>
        </p:txBody>
      </p:sp>
      <p:sp>
        <p:nvSpPr>
          <p:cNvPr id="7" name="!!LoopMilestone_2"/>
          <p:cNvSpPr/>
          <p:nvPr/>
        </p:nvSpPr>
        <p:spPr>
          <a:xfrm>
            <a:off x="5120640" y="1920240"/>
            <a:ext cx="1965960" cy="3017520"/>
          </a:xfrm>
          <a:prstGeom prst="roundRect">
            <a:avLst>
              <a:gd name="adj" fmla="val 6000"/>
            </a:avLst>
          </a:prstGeom>
          <a:solidFill>
            <a:srgbClr val="141C2A">
              <a:alpha val="90000"/>
            </a:srgbClr>
          </a:solidFill>
          <a:ln w="1778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03</a:t>
            </a:r>
            <a:br/>
            <a:r>
              <a:t>PREDICTION</a:t>
            </a:r>
          </a:p>
          <a:p>
            <a:pPr>
              <a:spcAft>
                <a:spcPts val="600"/>
              </a:spcAft>
              <a:defRPr sz="950" b="1">
                <a:solidFill>
                  <a:srgbClr val="A0CDEB"/>
                </a:solidFill>
                <a:latin typeface="Segoe UI"/>
              </a:defRPr>
            </a:pPr>
            <a:r>
              <a:t>Physics-Constrained LSTM + GIS Road Depth</a:t>
            </a:r>
          </a:p>
          <a:p>
            <a:pPr>
              <a:defRPr sz="900">
                <a:solidFill>
                  <a:srgbClr val="F5F7FA"/>
                </a:solidFill>
                <a:latin typeface="Segoe UI"/>
              </a:defRPr>
            </a:pPr>
            <a:r>
              <a:t>Neural network bounded by hydraulic mass conservation predicts water depth across the road network.</a:t>
            </a:r>
          </a:p>
        </p:txBody>
      </p:sp>
      <p:sp>
        <p:nvSpPr>
          <p:cNvPr id="8" name="!!LoopMilestone_3"/>
          <p:cNvSpPr/>
          <p:nvPr/>
        </p:nvSpPr>
        <p:spPr>
          <a:xfrm>
            <a:off x="7315200" y="1920240"/>
            <a:ext cx="1965960" cy="3017520"/>
          </a:xfrm>
          <a:prstGeom prst="roundRect">
            <a:avLst>
              <a:gd name="adj" fmla="val 6000"/>
            </a:avLst>
          </a:prstGeom>
          <a:solidFill>
            <a:srgbClr val="141C2A">
              <a:alpha val="90000"/>
            </a:srgbClr>
          </a:solidFill>
          <a:ln w="17780">
            <a:solidFill>
              <a:srgbClr val="FFC93C"/>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C93C"/>
                </a:solidFill>
                <a:latin typeface="Segoe UI"/>
              </a:defRPr>
            </a:pPr>
            <a:r>
              <a:t>04</a:t>
            </a:r>
            <a:br/>
            <a:r>
              <a:t>ALERTING</a:t>
            </a:r>
          </a:p>
          <a:p>
            <a:pPr>
              <a:spcAft>
                <a:spcPts val="600"/>
              </a:spcAft>
              <a:defRPr sz="950" b="1">
                <a:solidFill>
                  <a:srgbClr val="A0CDEB"/>
                </a:solidFill>
                <a:latin typeface="Segoe UI"/>
              </a:defRPr>
            </a:pPr>
            <a:r>
              <a:t>Standardized CAP v1.2 + 7-Language SMS</a:t>
            </a:r>
          </a:p>
          <a:p>
            <a:pPr>
              <a:defRPr sz="900">
                <a:solidFill>
                  <a:srgbClr val="F5F7FA"/>
                </a:solidFill>
                <a:latin typeface="Segoe UI"/>
              </a:defRPr>
            </a:pPr>
            <a:r>
              <a:t>Automated broadcast delivers OASIS CAP v1.2 XML feeds, regional text messages, and audible sirens in &lt;2s.</a:t>
            </a:r>
          </a:p>
        </p:txBody>
      </p:sp>
      <p:sp>
        <p:nvSpPr>
          <p:cNvPr id="9" name="!!LoopMilestone_4"/>
          <p:cNvSpPr/>
          <p:nvPr/>
        </p:nvSpPr>
        <p:spPr>
          <a:xfrm>
            <a:off x="9509760" y="1920240"/>
            <a:ext cx="1965960" cy="3017520"/>
          </a:xfrm>
          <a:prstGeom prst="roundRect">
            <a:avLst>
              <a:gd name="adj" fmla="val 6000"/>
            </a:avLst>
          </a:prstGeom>
          <a:solidFill>
            <a:srgbClr val="141C2A">
              <a:alpha val="90000"/>
            </a:srgbClr>
          </a:solidFill>
          <a:ln w="17780">
            <a:solidFill>
              <a:srgbClr val="FF6B35"/>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400"/>
              </a:spcAft>
              <a:defRPr sz="1300" b="1">
                <a:solidFill>
                  <a:srgbClr val="FF6B35"/>
                </a:solidFill>
                <a:latin typeface="Segoe UI"/>
              </a:defRPr>
            </a:pPr>
            <a:r>
              <a:t>05</a:t>
            </a:r>
            <a:br/>
            <a:r>
              <a:t>EVACUATION</a:t>
            </a:r>
          </a:p>
          <a:p>
            <a:pPr>
              <a:spcAft>
                <a:spcPts val="600"/>
              </a:spcAft>
              <a:defRPr sz="950" b="1">
                <a:solidFill>
                  <a:srgbClr val="A0CDEB"/>
                </a:solidFill>
                <a:latin typeface="Segoe UI"/>
              </a:defRPr>
            </a:pPr>
            <a:r>
              <a:t>Profile-Aware Dijkstra to Safe Shelters</a:t>
            </a:r>
          </a:p>
          <a:p>
            <a:pPr>
              <a:defRPr sz="900">
                <a:solidFill>
                  <a:srgbClr val="F5F7FA"/>
                </a:solidFill>
                <a:latin typeface="Segoe UI"/>
              </a:defRPr>
            </a:pPr>
            <a:r>
              <a:t>Sub-second pathfinding (194 ms) guides citizens and rescue vehicles along dry routes to verified high ground.</a:t>
            </a:r>
          </a:p>
        </p:txBody>
      </p:sp>
      <p:sp>
        <p:nvSpPr>
          <p:cNvPr id="10" name="!!FinalSummaryPanel"/>
          <p:cNvSpPr/>
          <p:nvPr/>
        </p:nvSpPr>
        <p:spPr>
          <a:xfrm>
            <a:off x="731520" y="5212080"/>
            <a:ext cx="10728655" cy="1097280"/>
          </a:xfrm>
          <a:prstGeom prst="roundRect">
            <a:avLst>
              <a:gd name="adj" fmla="val 6000"/>
            </a:avLst>
          </a:prstGeom>
          <a:solidFill>
            <a:srgbClr val="101622">
              <a:alpha val="92000"/>
            </a:srgbClr>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t" wrap="square" lIns="219456" rIns="219456" tIns="182880" bIns="182880"/>
          <a:lstStyle/>
          <a:p>
            <a:pPr algn="ctr">
              <a:spcAft>
                <a:spcPts val="200"/>
              </a:spcAft>
              <a:defRPr sz="1300" b="1">
                <a:solidFill>
                  <a:srgbClr val="F5F7FA"/>
                </a:solidFill>
                <a:latin typeface="Segoe UI"/>
              </a:defRPr>
            </a:pPr>
            <a:r>
              <a:t>CLOSED-LOOP DISASTER RISK REDUCTION ARCHITECTURE</a:t>
            </a:r>
          </a:p>
          <a:p>
            <a:pPr>
              <a:defRPr sz="1050">
                <a:solidFill>
                  <a:srgbClr val="B4C8E1"/>
                </a:solidFill>
                <a:latin typeface="Segoe UI"/>
              </a:defRPr>
            </a:pPr>
            <a:r>
              <a:t>An integrated engineering pipeline connecting physical river monitoring, automated satellite redundancy, standardized public alerts, and real-time evacuation routing to reduce flash-flood casualties.</a:t>
            </a:r>
          </a:p>
        </p:txBody>
      </p:sp>
    </p:spTree>
  </p:cSld>
  <p:clrMapOvr>
    <a:masterClrMapping/>
  </p:clrMapOvr>
  <p:transition xmlns:p16="http://schemas.microsoft.com/office/powerpoint/2015/09/main" spd="med">
    <p16: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