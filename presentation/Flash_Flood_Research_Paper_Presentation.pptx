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HeroPic" descr="hero_flash_flood.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41C28">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Box"/>
          <p:cNvSpPr txBox="1"/>
          <p:nvPr/>
        </p:nvSpPr>
        <p:spPr>
          <a:xfrm>
            <a:off x="731520" y="1188720"/>
            <a:ext cx="10728655" cy="3108960"/>
          </a:xfrm>
          <a:prstGeom prst="rect">
            <a:avLst/>
          </a:prstGeom>
          <a:noFill/>
        </p:spPr>
        <p:txBody>
          <a:bodyPr wrap="square" lIns="0" rIns="0" tIns="0" bIns="0">
            <a:spAutoFit/>
          </a:bodyPr>
          <a:lstStyle/>
          <a:p>
            <a:pPr>
              <a:spcAft>
                <a:spcPts val="800"/>
              </a:spcAft>
              <a:defRPr sz="1200" b="1">
                <a:solidFill>
                  <a:srgbClr val="FFC93C"/>
                </a:solidFill>
                <a:latin typeface="Segoe UI"/>
              </a:defRPr>
            </a:pPr>
            <a:r>
              <a:t>FINAL YEAR MAJOR PROJECT PRESENTATION • SESSION 2026–2027</a:t>
            </a:r>
          </a:p>
          <a:p>
            <a:pPr>
              <a:spcAft>
                <a:spcPts val="1200"/>
              </a:spcAft>
              <a:defRPr sz="3400" b="1">
                <a:solidFill>
                  <a:srgbClr val="F8FAFC"/>
                </a:solidFill>
                <a:latin typeface="Segoe UI"/>
              </a:defRPr>
            </a:pPr>
            <a:r>
              <a:t>Flash Flood Early Warning, Rescuer Assistance,</a:t>
            </a:r>
            <a:br/>
            <a:r>
              <a:t>and Safe Evacuation Routing System</a:t>
            </a:r>
          </a:p>
          <a:p>
            <a:pPr>
              <a:defRPr sz="1600">
                <a:solidFill>
                  <a:srgbClr val="38BDF8"/>
                </a:solidFill>
                <a:latin typeface="Segoe UI"/>
              </a:defRPr>
            </a:pPr>
            <a:r>
              <a:t>Helping communities reach government relief shelters safely and assisting rescue teams before roads are cut off</a:t>
            </a:r>
          </a:p>
        </p:txBody>
      </p:sp>
      <p:sp>
        <p:nvSpPr>
          <p:cNvPr id="5" name="!!MetaCard"/>
          <p:cNvSpPr/>
          <p:nvPr/>
        </p:nvSpPr>
        <p:spPr>
          <a:xfrm>
            <a:off x="731520" y="4572000"/>
            <a:ext cx="10728655" cy="1645920"/>
          </a:xfrm>
          <a:prstGeom prst="roundRect">
            <a:avLst>
              <a:gd name="adj" fmla="val 4500"/>
            </a:avLst>
          </a:prstGeom>
          <a:solidFill>
            <a:srgbClr val="121A26">
              <a:alpha val="92000"/>
            </a:srgbClr>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200"/>
              </a:spcAft>
              <a:defRPr sz="1100" b="1">
                <a:solidFill>
                  <a:srgbClr val="FFC93C"/>
                </a:solidFill>
                <a:latin typeface="Segoe UI"/>
              </a:defRPr>
            </a:pPr>
            <a:r>
              <a:t>STUDENT INVESTIGATORS:</a:t>
            </a:r>
          </a:p>
          <a:p>
            <a:pPr>
              <a:spcAft>
                <a:spcPts val="600"/>
              </a:spcAft>
              <a:defRPr sz="1300" b="1">
                <a:solidFill>
                  <a:srgbClr val="F8FAFC"/>
                </a:solidFill>
                <a:latin typeface="Segoe UI"/>
              </a:defRPr>
            </a:pPr>
            <a:r>
              <a:t>[Undergraduate Major Project Student Group / Candidate Names &amp; Roll Numbers]</a:t>
            </a:r>
          </a:p>
          <a:p>
            <a:pPr>
              <a:defRPr sz="1000">
                <a:solidFill>
                  <a:srgbClr val="CBD5E1"/>
                </a:solidFill>
                <a:latin typeface="Segoe UI"/>
              </a:defRPr>
            </a:pPr>
            <a:r>
              <a:t>Department of Computer Science &amp; Engineering</a:t>
            </a:r>
            <a:br/>
            <a:r>
              <a:t>Project Guide: [Faculty Project Guide / Supervisor, Department of Computer Science &amp; Engineering]</a:t>
            </a:r>
            <a:br/>
            <a:r>
              <a:t>Target Focus Area: Brahmaputra &amp; Barak River Basin (Assam)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1E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FF6B35"/>
                </a:solidFill>
                <a:latin typeface="Segoe UI"/>
              </a:defRPr>
            </a:pPr>
            <a:r>
              <a:t>THE PROBLEM</a:t>
            </a:r>
          </a:p>
          <a:p>
            <a:pPr>
              <a:defRPr sz="2600" b="1">
                <a:solidFill>
                  <a:srgbClr val="F8FAFC"/>
                </a:solidFill>
                <a:latin typeface="Segoe UI"/>
              </a:defRPr>
            </a:pPr>
            <a:r>
              <a:t>WHAT GOES WRONG DURING FLASH FLOODS?</a:t>
            </a:r>
          </a:p>
        </p:txBody>
      </p:sp>
      <p:pic>
        <p:nvPicPr>
          <p:cNvPr id="4" name="!!HazardPhoto" descr="sensor_flood_hazard.jpg"/>
          <p:cNvPicPr>
            <a:picLocks noChangeAspect="1"/>
          </p:cNvPicPr>
          <p:nvPr/>
        </p:nvPicPr>
        <p:blipFill>
          <a:blip r:embed="rId2"/>
          <a:stretch>
            <a:fillRect/>
          </a:stretch>
        </p:blipFill>
        <p:spPr>
          <a:xfrm>
            <a:off x="731520" y="1737360"/>
            <a:ext cx="3840480" cy="4480560"/>
          </a:xfrm>
          <a:prstGeom prst="rect">
            <a:avLst/>
          </a:prstGeom>
        </p:spPr>
      </p:pic>
      <p:sp>
        <p:nvSpPr>
          <p:cNvPr id="5" name="!!ProbCard_1."/>
          <p:cNvSpPr/>
          <p:nvPr/>
        </p:nvSpPr>
        <p:spPr>
          <a:xfrm>
            <a:off x="4846320" y="1737360"/>
            <a:ext cx="6613855" cy="1371600"/>
          </a:xfrm>
          <a:prstGeom prst="roundRect">
            <a:avLst>
              <a:gd name="adj" fmla="val 4500"/>
            </a:avLst>
          </a:prstGeom>
          <a:solidFill>
            <a:srgbClr val="1B2430">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C93C"/>
                </a:solidFill>
                <a:latin typeface="Segoe UI"/>
              </a:defRPr>
            </a:pPr>
            <a:r>
              <a:t>1. Water Rises Fast Without Enough Warning</a:t>
            </a:r>
          </a:p>
          <a:p>
            <a:pPr>
              <a:defRPr sz="1050">
                <a:solidFill>
                  <a:srgbClr val="CBD5E1"/>
                </a:solidFill>
                <a:latin typeface="Segoe UI"/>
              </a:defRPr>
            </a:pPr>
            <a:r>
              <a:t>Heavy rain in the hills causes rivers to rise rapidly. Because water moves so quickly, people living downstream often don't get warned in time to pack essential belongings and evacuate safely.</a:t>
            </a:r>
          </a:p>
        </p:txBody>
      </p:sp>
      <p:sp>
        <p:nvSpPr>
          <p:cNvPr id="6" name="!!ProbCard_2."/>
          <p:cNvSpPr/>
          <p:nvPr/>
        </p:nvSpPr>
        <p:spPr>
          <a:xfrm>
            <a:off x="4846320" y="3291839"/>
            <a:ext cx="6613855" cy="1371600"/>
          </a:xfrm>
          <a:prstGeom prst="roundRect">
            <a:avLst>
              <a:gd name="adj" fmla="val 4500"/>
            </a:avLst>
          </a:prstGeom>
          <a:solidFill>
            <a:srgbClr val="1B2430">
              <a:alpha val="90000"/>
            </a:srgbClr>
          </a:solidFill>
          <a:ln w="1524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6B35"/>
                </a:solidFill>
                <a:latin typeface="Segoe UI"/>
              </a:defRPr>
            </a:pPr>
            <a:r>
              <a:t>2. Ground Sensors Often Break in Severe Storms</a:t>
            </a:r>
          </a:p>
          <a:p>
            <a:pPr>
              <a:defRPr sz="1050">
                <a:solidFill>
                  <a:srgbClr val="CBD5E1"/>
                </a:solidFill>
                <a:latin typeface="Segoe UI"/>
              </a:defRPr>
            </a:pPr>
            <a:r>
              <a:t>River gauges installed on riverbanks are easily damaged or washed away by floating logs, mud, and fast currents. When the sensors break, officials lose real-time visibility right when they need it most.</a:t>
            </a:r>
          </a:p>
        </p:txBody>
      </p:sp>
      <p:sp>
        <p:nvSpPr>
          <p:cNvPr id="7" name="!!ProbCard_3."/>
          <p:cNvSpPr/>
          <p:nvPr/>
        </p:nvSpPr>
        <p:spPr>
          <a:xfrm>
            <a:off x="4846320" y="4846320"/>
            <a:ext cx="6613855" cy="1371600"/>
          </a:xfrm>
          <a:prstGeom prst="roundRect">
            <a:avLst>
              <a:gd name="adj" fmla="val 4500"/>
            </a:avLst>
          </a:prstGeom>
          <a:solidFill>
            <a:srgbClr val="1B2430">
              <a:alpha val="90000"/>
            </a:srgbClr>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38BDF8"/>
                </a:solidFill>
                <a:latin typeface="Segoe UI"/>
              </a:defRPr>
            </a:pPr>
            <a:r>
              <a:t>3. People and Rescuers Get Trapped on Flooded Roads</a:t>
            </a:r>
          </a:p>
          <a:p>
            <a:pPr>
              <a:defRPr sz="1050">
                <a:solidFill>
                  <a:srgbClr val="CBD5E1"/>
                </a:solidFill>
                <a:latin typeface="Segoe UI"/>
              </a:defRPr>
            </a:pPr>
            <a:r>
              <a:t>Standard maps and GPS apps only look at normal traffic. During floods, they direct people onto low roads and bridges that are already underwater. Meanwhile, rescue teams don't know which roads are cut off until they get stuck.</a:t>
            </a:r>
          </a:p>
        </p:txBody>
      </p:sp>
    </p:spTree>
  </p:cSld>
  <p:clrMapOvr>
    <a:masterClrMapping/>
  </p:clrMapOvr>
  <p:transition xmlns:p16="http://schemas.microsoft.com/office/powerpoint/2015/09/main" spd="med">
    <p16:morph option="byObject"/>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1E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38BDF8"/>
                </a:solidFill>
                <a:latin typeface="Segoe UI"/>
              </a:defRPr>
            </a:pPr>
            <a:r>
              <a:t>OUR SOLUTION</a:t>
            </a:r>
          </a:p>
          <a:p>
            <a:pPr>
              <a:defRPr sz="2600" b="1">
                <a:solidFill>
                  <a:srgbClr val="F8FAFC"/>
                </a:solidFill>
                <a:latin typeface="Segoe UI"/>
              </a:defRPr>
            </a:pPr>
            <a:r>
              <a:t>HOW OUR SYSTEM SOLVES THESE PROBLEMS</a:t>
            </a:r>
          </a:p>
        </p:txBody>
      </p:sp>
      <p:sp>
        <p:nvSpPr>
          <p:cNvPr id="4" name="!!StepCard_STEP 1"/>
          <p:cNvSpPr/>
          <p:nvPr/>
        </p:nvSpPr>
        <p:spPr>
          <a:xfrm>
            <a:off x="731520" y="1737360"/>
            <a:ext cx="2499055" cy="3657600"/>
          </a:xfrm>
          <a:prstGeom prst="roundRect">
            <a:avLst>
              <a:gd name="adj" fmla="val 4500"/>
            </a:avLst>
          </a:prstGeom>
          <a:solidFill>
            <a:srgbClr val="1B2430">
              <a:alpha val="90000"/>
            </a:srgbClr>
          </a:solidFill>
          <a:ln w="1778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200" b="1">
                <a:solidFill>
                  <a:srgbClr val="FFC93C"/>
                </a:solidFill>
                <a:latin typeface="Segoe UI"/>
              </a:defRPr>
            </a:pPr>
            <a:r>
              <a:t>STEP 1: SENSORS &amp; BACKUP</a:t>
            </a:r>
          </a:p>
          <a:p>
            <a:pPr>
              <a:defRPr sz="1050">
                <a:solidFill>
                  <a:srgbClr val="F8FAFC"/>
                </a:solidFill>
                <a:latin typeface="Segoe UI"/>
              </a:defRPr>
            </a:pPr>
            <a:r>
              <a:t>Reads ground river gauges every 15 minutes. If a ground sensor gets damaged, the system automatically uses satellite radar from orbit to keep measuring water height.</a:t>
            </a:r>
          </a:p>
        </p:txBody>
      </p:sp>
      <p:sp>
        <p:nvSpPr>
          <p:cNvPr id="5" name="!!StepCard_STEP 2"/>
          <p:cNvSpPr/>
          <p:nvPr/>
        </p:nvSpPr>
        <p:spPr>
          <a:xfrm>
            <a:off x="3474720" y="1737360"/>
            <a:ext cx="2499055" cy="3657600"/>
          </a:xfrm>
          <a:prstGeom prst="roundRect">
            <a:avLst>
              <a:gd name="adj" fmla="val 4500"/>
            </a:avLst>
          </a:prstGeom>
          <a:solidFill>
            <a:srgbClr val="1B2430">
              <a:alpha val="90000"/>
            </a:srgbClr>
          </a:solidFill>
          <a:ln w="1778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200" b="1">
                <a:solidFill>
                  <a:srgbClr val="38BDF8"/>
                </a:solidFill>
                <a:latin typeface="Segoe UI"/>
              </a:defRPr>
            </a:pPr>
            <a:r>
              <a:t>STEP 2: FLOOD PREDICTION</a:t>
            </a:r>
          </a:p>
          <a:p>
            <a:pPr>
              <a:defRPr sz="1050">
                <a:solidFill>
                  <a:srgbClr val="F8FAFC"/>
                </a:solidFill>
                <a:latin typeface="Segoe UI"/>
              </a:defRPr>
            </a:pPr>
            <a:r>
              <a:t>Calculates how fast water is moving downstream from upstream rain. This gives downstream towns 2 to 2.5 hours of advance warning before water crests.</a:t>
            </a:r>
          </a:p>
        </p:txBody>
      </p:sp>
      <p:sp>
        <p:nvSpPr>
          <p:cNvPr id="6" name="!!StepCard_STEP 3"/>
          <p:cNvSpPr/>
          <p:nvPr/>
        </p:nvSpPr>
        <p:spPr>
          <a:xfrm>
            <a:off x="6217920" y="1737360"/>
            <a:ext cx="2499055" cy="3657600"/>
          </a:xfrm>
          <a:prstGeom prst="roundRect">
            <a:avLst>
              <a:gd name="adj" fmla="val 4500"/>
            </a:avLst>
          </a:prstGeom>
          <a:solidFill>
            <a:srgbClr val="1B2430">
              <a:alpha val="90000"/>
            </a:srgbClr>
          </a:solidFill>
          <a:ln w="1778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200" b="1">
                <a:solidFill>
                  <a:srgbClr val="FF6B35"/>
                </a:solidFill>
                <a:latin typeface="Segoe UI"/>
              </a:defRPr>
            </a:pPr>
            <a:r>
              <a:t>STEP 3: MAPPING FLOODED ROADS</a:t>
            </a:r>
          </a:p>
          <a:p>
            <a:pPr>
              <a:defRPr sz="1050">
                <a:solidFill>
                  <a:srgbClr val="F8FAFC"/>
                </a:solidFill>
                <a:latin typeface="Segoe UI"/>
              </a:defRPr>
            </a:pPr>
            <a:r>
              <a:t>Compares rising water levels with local road maps to determine exactly which streets will be underwater and how deep the water will be.</a:t>
            </a:r>
          </a:p>
        </p:txBody>
      </p:sp>
      <p:sp>
        <p:nvSpPr>
          <p:cNvPr id="7" name="!!StepCard_STEP 4"/>
          <p:cNvSpPr/>
          <p:nvPr/>
        </p:nvSpPr>
        <p:spPr>
          <a:xfrm>
            <a:off x="8961120" y="1737360"/>
            <a:ext cx="2499055" cy="3657600"/>
          </a:xfrm>
          <a:prstGeom prst="roundRect">
            <a:avLst>
              <a:gd name="adj" fmla="val 4500"/>
            </a:avLst>
          </a:prstGeom>
          <a:solidFill>
            <a:srgbClr val="1B2430">
              <a:alpha val="90000"/>
            </a:srgbClr>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200" b="1">
                <a:solidFill>
                  <a:srgbClr val="10B981"/>
                </a:solidFill>
                <a:latin typeface="Segoe UI"/>
              </a:defRPr>
            </a:pPr>
            <a:r>
              <a:t>STEP 4: ALERTS &amp; SAFE ROUTES</a:t>
            </a:r>
          </a:p>
          <a:p>
            <a:pPr>
              <a:defRPr sz="1050">
                <a:solidFill>
                  <a:srgbClr val="F8FAFC"/>
                </a:solidFill>
                <a:latin typeface="Segoe UI"/>
              </a:defRPr>
            </a:pPr>
            <a:r>
              <a:t>Sends automated SMS in local languages and guides residents along dry roads to open government shelters, while helping rescue teams deploy in advance.</a:t>
            </a:r>
          </a:p>
        </p:txBody>
      </p:sp>
      <p:sp>
        <p:nvSpPr>
          <p:cNvPr id="8" name="!!StepSummary"/>
          <p:cNvSpPr/>
          <p:nvPr/>
        </p:nvSpPr>
        <p:spPr>
          <a:xfrm>
            <a:off x="731520" y="5577840"/>
            <a:ext cx="10728655" cy="822960"/>
          </a:xfrm>
          <a:prstGeom prst="roundRect">
            <a:avLst>
              <a:gd name="adj" fmla="val 4500"/>
            </a:avLst>
          </a:prstGeom>
          <a:solidFill>
            <a:srgbClr val="141C28">
              <a:alpha val="90000"/>
            </a:srgbClr>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defRPr sz="1100" b="1">
                <a:solidFill>
                  <a:srgbClr val="F8FAFC"/>
                </a:solidFill>
                <a:latin typeface="Segoe UI"/>
              </a:defRPr>
            </a:pPr>
            <a:r>
              <a:t>CORE GOAL: Predict where water will rise, alert people immediately, and guide both citizens and rescue teams to safe ground before catastrophe happens.</a:t>
            </a:r>
          </a:p>
        </p:txBody>
      </p:sp>
    </p:spTree>
  </p:cSld>
  <p:clrMapOvr>
    <a:masterClrMapping/>
  </p:clrMapOvr>
  <p:transition xmlns:p16="http://schemas.microsoft.com/office/powerpoint/2015/09/main" spd="med">
    <p16:morph option="byObject"/>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1E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A0B4CD"/>
                </a:solidFill>
                <a:latin typeface="Segoe UI"/>
              </a:defRPr>
            </a:pPr>
            <a:r>
              <a:t>STEP 1: SENSOR BACKUP</a:t>
            </a:r>
          </a:p>
          <a:p>
            <a:pPr>
              <a:defRPr sz="2600" b="1">
                <a:solidFill>
                  <a:srgbClr val="F8FAFC"/>
                </a:solidFill>
                <a:latin typeface="Segoe UI"/>
              </a:defRPr>
            </a:pPr>
            <a:r>
              <a:t>WHAT HAPPENS WHEN GROUND SENSORS BREAK?</a:t>
            </a:r>
          </a:p>
        </p:txBody>
      </p:sp>
      <p:sp>
        <p:nvSpPr>
          <p:cNvPr id="4" name="!!SensorFailureCard"/>
          <p:cNvSpPr/>
          <p:nvPr/>
        </p:nvSpPr>
        <p:spPr>
          <a:xfrm>
            <a:off x="731520" y="1737360"/>
            <a:ext cx="5212080" cy="4480560"/>
          </a:xfrm>
          <a:prstGeom prst="roundRect">
            <a:avLst>
              <a:gd name="adj" fmla="val 4500"/>
            </a:avLst>
          </a:prstGeom>
          <a:solidFill>
            <a:srgbClr val="201618">
              <a:alpha val="90000"/>
            </a:srgbClr>
          </a:solidFill>
          <a:ln w="1524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FF6B35"/>
                </a:solidFill>
                <a:latin typeface="Segoe UI"/>
              </a:defRPr>
            </a:pPr>
            <a:r>
              <a:t>THE SENSOR PROBLEM ON THE GROUND</a:t>
            </a:r>
          </a:p>
          <a:p>
            <a:pPr>
              <a:spcAft>
                <a:spcPts val="200"/>
              </a:spcAft>
              <a:defRPr sz="1100" b="1">
                <a:solidFill>
                  <a:srgbClr val="FFC93C"/>
                </a:solidFill>
                <a:latin typeface="Segoe UI"/>
              </a:defRPr>
            </a:pPr>
            <a:r>
              <a:t>• River Gauges Break Easily</a:t>
            </a:r>
          </a:p>
          <a:p>
            <a:pPr>
              <a:spcAft>
                <a:spcPts val="1000"/>
              </a:spcAft>
              <a:defRPr sz="1000">
                <a:solidFill>
                  <a:srgbClr val="CBD5E1"/>
                </a:solidFill>
                <a:latin typeface="Segoe UI"/>
              </a:defRPr>
            </a:pPr>
            <a:r>
              <a:t>Ground sensors are placed right in the river channel. Fast-moving water, floating tree trunks, and thick silt often knock them out completely.</a:t>
            </a:r>
          </a:p>
          <a:p>
            <a:pPr>
              <a:spcAft>
                <a:spcPts val="200"/>
              </a:spcAft>
              <a:defRPr sz="1100" b="1">
                <a:solidFill>
                  <a:srgbClr val="FFC93C"/>
                </a:solidFill>
                <a:latin typeface="Segoe UI"/>
              </a:defRPr>
            </a:pPr>
            <a:r>
              <a:t>• Power &amp; Signal Outages</a:t>
            </a:r>
          </a:p>
          <a:p>
            <a:pPr>
              <a:spcAft>
                <a:spcPts val="1000"/>
              </a:spcAft>
              <a:defRPr sz="1000">
                <a:solidFill>
                  <a:srgbClr val="CBD5E1"/>
                </a:solidFill>
                <a:latin typeface="Segoe UI"/>
              </a:defRPr>
            </a:pPr>
            <a:r>
              <a:t>Severe storms knock down electricity poles and mobile network towers, stopping ground data from reaching disaster headquarters.</a:t>
            </a:r>
          </a:p>
          <a:p>
            <a:pPr>
              <a:spcAft>
                <a:spcPts val="200"/>
              </a:spcAft>
              <a:defRPr sz="1100" b="1">
                <a:solidFill>
                  <a:srgbClr val="FFC93C"/>
                </a:solidFill>
                <a:latin typeface="Segoe UI"/>
              </a:defRPr>
            </a:pPr>
            <a:r>
              <a:t>• Missing Data Causes Warning Delays</a:t>
            </a:r>
          </a:p>
          <a:p>
            <a:pPr>
              <a:spcAft>
                <a:spcPts val="1000"/>
              </a:spcAft>
              <a:defRPr sz="1000">
                <a:solidFill>
                  <a:srgbClr val="CBD5E1"/>
                </a:solidFill>
                <a:latin typeface="Segoe UI"/>
              </a:defRPr>
            </a:pPr>
            <a:r>
              <a:t>In most standard flood systems, if the ground sensor goes offline, the software simply stops working and leaves officials guessing.</a:t>
            </a:r>
          </a:p>
        </p:txBody>
      </p:sp>
      <p:sp>
        <p:nvSpPr>
          <p:cNvPr id="5" name="!!SatelliteSolutionCard"/>
          <p:cNvSpPr/>
          <p:nvPr/>
        </p:nvSpPr>
        <p:spPr>
          <a:xfrm>
            <a:off x="6217920" y="1737360"/>
            <a:ext cx="5212080" cy="4480560"/>
          </a:xfrm>
          <a:prstGeom prst="roundRect">
            <a:avLst>
              <a:gd name="adj" fmla="val 4500"/>
            </a:avLst>
          </a:prstGeom>
          <a:solidFill>
            <a:srgbClr val="141E2A">
              <a:alpha val="90000"/>
            </a:srgbClr>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38BDF8"/>
                </a:solidFill>
                <a:latin typeface="Segoe UI"/>
              </a:defRPr>
            </a:pPr>
            <a:r>
              <a:t>HOW SATELLITE RADAR SOLVES THIS</a:t>
            </a:r>
          </a:p>
          <a:p>
            <a:pPr>
              <a:spcAft>
                <a:spcPts val="200"/>
              </a:spcAft>
              <a:defRPr sz="1100" b="1">
                <a:solidFill>
                  <a:srgbClr val="10B981"/>
                </a:solidFill>
                <a:latin typeface="Segoe UI"/>
              </a:defRPr>
            </a:pPr>
            <a:r>
              <a:t>✔  Automatic Detection</a:t>
            </a:r>
          </a:p>
          <a:p>
            <a:pPr>
              <a:spcAft>
                <a:spcPts val="1000"/>
              </a:spcAft>
              <a:defRPr sz="1000">
                <a:solidFill>
                  <a:srgbClr val="F8FAFC"/>
                </a:solidFill>
                <a:latin typeface="Segoe UI"/>
              </a:defRPr>
            </a:pPr>
            <a:r>
              <a:t>Our software checks for incoming sensor readings every 15 minutes. If no data arrives, it switches over to satellite radar data automatically.</a:t>
            </a:r>
          </a:p>
          <a:p>
            <a:pPr>
              <a:spcAft>
                <a:spcPts val="200"/>
              </a:spcAft>
              <a:defRPr sz="1100" b="1">
                <a:solidFill>
                  <a:srgbClr val="10B981"/>
                </a:solidFill>
                <a:latin typeface="Segoe UI"/>
              </a:defRPr>
            </a:pPr>
            <a:r>
              <a:t>✔  Sees Through Rain &amp; Storm Clouds</a:t>
            </a:r>
          </a:p>
          <a:p>
            <a:pPr>
              <a:spcAft>
                <a:spcPts val="1000"/>
              </a:spcAft>
              <a:defRPr sz="1000">
                <a:solidFill>
                  <a:srgbClr val="F8FAFC"/>
                </a:solidFill>
                <a:latin typeface="Segoe UI"/>
              </a:defRPr>
            </a:pPr>
            <a:r>
              <a:t>Regular satellite cameras cannot see through monsoon clouds. We use radar satellites (Sentinel-3) which shoot radar pulses through heavy rain and measure river height directly.</a:t>
            </a:r>
          </a:p>
          <a:p>
            <a:pPr>
              <a:spcAft>
                <a:spcPts val="200"/>
              </a:spcAft>
              <a:defRPr sz="1100" b="1">
                <a:solidFill>
                  <a:srgbClr val="10B981"/>
                </a:solidFill>
                <a:latin typeface="Segoe UI"/>
              </a:defRPr>
            </a:pPr>
            <a:r>
              <a:t>✔  Completely Safe in Space</a:t>
            </a:r>
          </a:p>
          <a:p>
            <a:pPr>
              <a:spcAft>
                <a:spcPts val="1000"/>
              </a:spcAft>
              <a:defRPr sz="1000">
                <a:solidFill>
                  <a:srgbClr val="F8FAFC"/>
                </a:solidFill>
                <a:latin typeface="Segoe UI"/>
              </a:defRPr>
            </a:pPr>
            <a:r>
              <a:t>Because the satellite is in orbit, ground floods, broken power lines, and damaged roads cannot affect it. The system keeps running no matter how bad the storm is.</a:t>
            </a:r>
          </a:p>
        </p:txBody>
      </p:sp>
    </p:spTree>
  </p:cSld>
  <p:clrMapOvr>
    <a:masterClrMapping/>
  </p:clrMapOvr>
  <p:transition xmlns:p16="http://schemas.microsoft.com/office/powerpoint/2015/09/main" spd="med">
    <p16:morph option="byObject"/>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1E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FFC93C"/>
                </a:solidFill>
                <a:latin typeface="Segoe UI"/>
              </a:defRPr>
            </a:pPr>
            <a:r>
              <a:t>STEP 2: FLOOD PREDICTION</a:t>
            </a:r>
          </a:p>
          <a:p>
            <a:pPr>
              <a:defRPr sz="2600" b="1">
                <a:solidFill>
                  <a:srgbClr val="F8FAFC"/>
                </a:solidFill>
                <a:latin typeface="Segoe UI"/>
              </a:defRPr>
            </a:pPr>
            <a:r>
              <a:t>PREDICTING WATER LEVEL TO GAIN 2+ HOURS OF LEAD TIME</a:t>
            </a:r>
          </a:p>
        </p:txBody>
      </p:sp>
      <p:sp>
        <p:nvSpPr>
          <p:cNvPr id="4" name="!!PredCard_1. "/>
          <p:cNvSpPr/>
          <p:nvPr/>
        </p:nvSpPr>
        <p:spPr>
          <a:xfrm>
            <a:off x="731520" y="1737360"/>
            <a:ext cx="3383280" cy="3291840"/>
          </a:xfrm>
          <a:prstGeom prst="roundRect">
            <a:avLst>
              <a:gd name="adj" fmla="val 4500"/>
            </a:avLst>
          </a:prstGeom>
          <a:solidFill>
            <a:srgbClr val="1B2430">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200" b="1">
                <a:solidFill>
                  <a:srgbClr val="FFC93C"/>
                </a:solidFill>
                <a:latin typeface="Segoe UI"/>
              </a:defRPr>
            </a:pPr>
            <a:r>
              <a:t>1. Tracking Flood Water Speed Downstream</a:t>
            </a:r>
          </a:p>
          <a:p>
            <a:pPr>
              <a:defRPr sz="1050">
                <a:solidFill>
                  <a:srgbClr val="F8FAFC"/>
                </a:solidFill>
                <a:latin typeface="Segoe UI"/>
              </a:defRPr>
            </a:pPr>
            <a:r>
              <a:t>When heavy rain falls in upstream hills, the flood wave takes time to travel downstream (about 5 meters per second). By calculating this speed, our system gives towns downstream 2 to 2.5 hours of advance notice before the water level peaks.</a:t>
            </a:r>
          </a:p>
        </p:txBody>
      </p:sp>
      <p:sp>
        <p:nvSpPr>
          <p:cNvPr id="5" name="!!PredCard_2. "/>
          <p:cNvSpPr/>
          <p:nvPr/>
        </p:nvSpPr>
        <p:spPr>
          <a:xfrm>
            <a:off x="4389120" y="1737360"/>
            <a:ext cx="3383280" cy="3291840"/>
          </a:xfrm>
          <a:prstGeom prst="roundRect">
            <a:avLst>
              <a:gd name="adj" fmla="val 4500"/>
            </a:avLst>
          </a:prstGeom>
          <a:solidFill>
            <a:srgbClr val="1B2430">
              <a:alpha val="90000"/>
            </a:srgbClr>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200" b="1">
                <a:solidFill>
                  <a:srgbClr val="38BDF8"/>
                </a:solidFill>
                <a:latin typeface="Segoe UI"/>
              </a:defRPr>
            </a:pPr>
            <a:r>
              <a:t>2. Checking Soil Wetness (Saturation)</a:t>
            </a:r>
          </a:p>
          <a:p>
            <a:pPr>
              <a:defRPr sz="1050">
                <a:solidFill>
                  <a:srgbClr val="F8FAFC"/>
                </a:solidFill>
                <a:latin typeface="Segoe UI"/>
              </a:defRPr>
            </a:pPr>
            <a:r>
              <a:t>Dry soil absorbs rain like a sponge. But when soil is already completely soaked from days of rain, 90%+ of any new rain immediately runs off into rivers. The system checks soil wetness so it knows when a flash flood is likely.</a:t>
            </a:r>
          </a:p>
        </p:txBody>
      </p:sp>
      <p:sp>
        <p:nvSpPr>
          <p:cNvPr id="6" name="!!PredCard_3. "/>
          <p:cNvSpPr/>
          <p:nvPr/>
        </p:nvSpPr>
        <p:spPr>
          <a:xfrm>
            <a:off x="8046720" y="1737360"/>
            <a:ext cx="3383280" cy="3291840"/>
          </a:xfrm>
          <a:prstGeom prst="roundRect">
            <a:avLst>
              <a:gd name="adj" fmla="val 4500"/>
            </a:avLst>
          </a:prstGeom>
          <a:solidFill>
            <a:srgbClr val="1B2430">
              <a:alpha val="90000"/>
            </a:srgbClr>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200" b="1">
                <a:solidFill>
                  <a:srgbClr val="10B981"/>
                </a:solidFill>
                <a:latin typeface="Segoe UI"/>
              </a:defRPr>
            </a:pPr>
            <a:r>
              <a:t>3. Keeping Predictions Realistic</a:t>
            </a:r>
          </a:p>
          <a:p>
            <a:pPr>
              <a:defRPr sz="1050">
                <a:solidFill>
                  <a:srgbClr val="F8FAFC"/>
                </a:solidFill>
                <a:latin typeface="Segoe UI"/>
              </a:defRPr>
            </a:pPr>
            <a:r>
              <a:t>Pure computer algorithms sometimes make wild, impossible guesses when unusual storms hit. We constrain the prediction with basic physics (how much water the river channel can physically hold) so predictions remain reliable.</a:t>
            </a:r>
          </a:p>
        </p:txBody>
      </p:sp>
      <p:sp>
        <p:nvSpPr>
          <p:cNvPr id="7" name="!!LeadTimeBanner"/>
          <p:cNvSpPr/>
          <p:nvPr/>
        </p:nvSpPr>
        <p:spPr>
          <a:xfrm>
            <a:off x="731520" y="5257800"/>
            <a:ext cx="10728655" cy="1051560"/>
          </a:xfrm>
          <a:prstGeom prst="roundRect">
            <a:avLst>
              <a:gd name="adj" fmla="val 4500"/>
            </a:avLst>
          </a:prstGeom>
          <a:solidFill>
            <a:srgbClr val="182230">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200"/>
              </a:spcAft>
              <a:defRPr sz="1200" b="1">
                <a:solidFill>
                  <a:srgbClr val="FFC93C"/>
                </a:solidFill>
                <a:latin typeface="Segoe UI"/>
              </a:defRPr>
            </a:pPr>
            <a:r>
              <a:t>WHY A 2-HOUR LEAD TIME MATTERS:</a:t>
            </a:r>
          </a:p>
          <a:p>
            <a:pPr>
              <a:defRPr sz="1050">
                <a:solidFill>
                  <a:srgbClr val="F8FAFC"/>
                </a:solidFill>
                <a:latin typeface="Segoe UI"/>
              </a:defRPr>
            </a:pPr>
            <a:r>
              <a:t>In most flash floods, people get caught because water enters homes without any warning. Having even 2 hours of advance notice is enough time for families to get to high ground and for rescue teams to reach vulnerable spots.</a:t>
            </a:r>
          </a:p>
        </p:txBody>
      </p:sp>
    </p:spTree>
  </p:cSld>
  <p:clrMapOvr>
    <a:masterClrMapping/>
  </p:clrMapOvr>
  <p:transition xmlns:p16="http://schemas.microsoft.com/office/powerpoint/2015/09/main" spd="med">
    <p16:morph option="byObject"/>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1E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A0B4CD"/>
                </a:solidFill>
                <a:latin typeface="Segoe UI"/>
              </a:defRPr>
            </a:pPr>
            <a:r>
              <a:t>STEP 3: MAPPING FLOODED ROADS</a:t>
            </a:r>
          </a:p>
          <a:p>
            <a:pPr>
              <a:defRPr sz="2600" b="1">
                <a:solidFill>
                  <a:srgbClr val="F8FAFC"/>
                </a:solidFill>
                <a:latin typeface="Segoe UI"/>
              </a:defRPr>
            </a:pPr>
            <a:r>
              <a:t>FINDING OUT WHICH ROADS WILL BE UNDERWATER</a:t>
            </a:r>
          </a:p>
        </p:txBody>
      </p:sp>
      <p:sp>
        <p:nvSpPr>
          <p:cNvPr id="4" name="!!HowMapWorksCard"/>
          <p:cNvSpPr/>
          <p:nvPr/>
        </p:nvSpPr>
        <p:spPr>
          <a:xfrm>
            <a:off x="731520" y="1737360"/>
            <a:ext cx="5212080" cy="4480560"/>
          </a:xfrm>
          <a:prstGeom prst="roundRect">
            <a:avLst>
              <a:gd name="adj" fmla="val 4500"/>
            </a:avLst>
          </a:prstGeom>
          <a:solidFill>
            <a:srgbClr val="1B2430">
              <a:alpha val="90000"/>
            </a:srgbClr>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38BDF8"/>
                </a:solidFill>
                <a:latin typeface="Segoe UI"/>
              </a:defRPr>
            </a:pPr>
            <a:r>
              <a:t>HOW THE SYSTEM CHECKS EVERY ROAD</a:t>
            </a:r>
          </a:p>
          <a:p>
            <a:pPr>
              <a:spcAft>
                <a:spcPts val="200"/>
              </a:spcAft>
              <a:defRPr sz="1100" b="1">
                <a:solidFill>
                  <a:srgbClr val="F8FAFC"/>
                </a:solidFill>
                <a:latin typeface="Segoe UI"/>
              </a:defRPr>
            </a:pPr>
            <a:r>
              <a:t>• Step 1: Digital Elevation Map</a:t>
            </a:r>
          </a:p>
          <a:p>
            <a:pPr>
              <a:spcAft>
                <a:spcPts val="1000"/>
              </a:spcAft>
              <a:defRPr sz="1000">
                <a:solidFill>
                  <a:srgbClr val="CBD5E1"/>
                </a:solidFill>
                <a:latin typeface="Segoe UI"/>
              </a:defRPr>
            </a:pPr>
            <a:r>
              <a:t>The system uses terrain height maps to see which parts of the town are on high ground and which streets sit in low dips.</a:t>
            </a:r>
          </a:p>
          <a:p>
            <a:pPr>
              <a:spcAft>
                <a:spcPts val="200"/>
              </a:spcAft>
              <a:defRPr sz="1100" b="1">
                <a:solidFill>
                  <a:srgbClr val="F8FAFC"/>
                </a:solidFill>
                <a:latin typeface="Segoe UI"/>
              </a:defRPr>
            </a:pPr>
            <a:r>
              <a:t>• Step 2: Predicted River Height</a:t>
            </a:r>
          </a:p>
          <a:p>
            <a:pPr>
              <a:spcAft>
                <a:spcPts val="1000"/>
              </a:spcAft>
              <a:defRPr sz="1000">
                <a:solidFill>
                  <a:srgbClr val="CBD5E1"/>
                </a:solidFill>
                <a:latin typeface="Segoe UI"/>
              </a:defRPr>
            </a:pPr>
            <a:r>
              <a:t>It brings in the predicted river water level from Step 2.</a:t>
            </a:r>
          </a:p>
          <a:p>
            <a:pPr>
              <a:spcAft>
                <a:spcPts val="200"/>
              </a:spcAft>
              <a:defRPr sz="1100" b="1">
                <a:solidFill>
                  <a:srgbClr val="F8FAFC"/>
                </a:solidFill>
                <a:latin typeface="Segoe UI"/>
              </a:defRPr>
            </a:pPr>
            <a:r>
              <a:t>• Step 3: Road Map Overlay</a:t>
            </a:r>
          </a:p>
          <a:p>
            <a:pPr>
              <a:spcAft>
                <a:spcPts val="1000"/>
              </a:spcAft>
              <a:defRPr sz="1000">
                <a:solidFill>
                  <a:srgbClr val="CBD5E1"/>
                </a:solidFill>
                <a:latin typeface="Segoe UI"/>
              </a:defRPr>
            </a:pPr>
            <a:r>
              <a:t>It overlays local road maps (from OpenStreetMap) on top of the water map to calculate estimated water depth on every single street segment.</a:t>
            </a:r>
          </a:p>
        </p:txBody>
      </p:sp>
      <p:sp>
        <p:nvSpPr>
          <p:cNvPr id="5" name="!!RoadClassCard"/>
          <p:cNvSpPr/>
          <p:nvPr/>
        </p:nvSpPr>
        <p:spPr>
          <a:xfrm>
            <a:off x="6217920" y="1737360"/>
            <a:ext cx="5212080" cy="4480560"/>
          </a:xfrm>
          <a:prstGeom prst="roundRect">
            <a:avLst>
              <a:gd name="adj" fmla="val 4500"/>
            </a:avLst>
          </a:prstGeom>
          <a:solidFill>
            <a:srgbClr val="1B2430">
              <a:alpha val="90000"/>
            </a:srgbClr>
          </a:solidFill>
          <a:ln w="1524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FF6B35"/>
                </a:solidFill>
                <a:latin typeface="Segoe UI"/>
              </a:defRPr>
            </a:pPr>
            <a:r>
              <a:t>CLASSIFYING ROADS FOR SAFETY</a:t>
            </a:r>
          </a:p>
          <a:p>
            <a:pPr>
              <a:spcAft>
                <a:spcPts val="200"/>
              </a:spcAft>
              <a:defRPr sz="1100" b="1">
                <a:solidFill>
                  <a:srgbClr val="10B981"/>
                </a:solidFill>
                <a:latin typeface="Segoe UI"/>
              </a:defRPr>
            </a:pPr>
            <a:r>
              <a:t>■  Dry Roads (Under 5 cm)</a:t>
            </a:r>
          </a:p>
          <a:p>
            <a:pPr>
              <a:spcAft>
                <a:spcPts val="1000"/>
              </a:spcAft>
              <a:defRPr sz="1000">
                <a:solidFill>
                  <a:srgbClr val="F8FAFC"/>
                </a:solidFill>
                <a:latin typeface="Segoe UI"/>
              </a:defRPr>
            </a:pPr>
            <a:r>
              <a:t>Completely safe. Normal walking and passenger cars allowed.</a:t>
            </a:r>
          </a:p>
          <a:p>
            <a:pPr>
              <a:spcAft>
                <a:spcPts val="200"/>
              </a:spcAft>
              <a:defRPr sz="1100" b="1">
                <a:solidFill>
                  <a:srgbClr val="FFC93C"/>
                </a:solidFill>
                <a:latin typeface="Segoe UI"/>
              </a:defRPr>
            </a:pPr>
            <a:r>
              <a:t>■  Shallow Water (5 cm to 15 cm)</a:t>
            </a:r>
          </a:p>
          <a:p>
            <a:pPr>
              <a:spcAft>
                <a:spcPts val="1000"/>
              </a:spcAft>
              <a:defRPr sz="1000">
                <a:solidFill>
                  <a:srgbClr val="F8FAFC"/>
                </a:solidFill>
                <a:latin typeface="Segoe UI"/>
              </a:defRPr>
            </a:pPr>
            <a:r>
              <a:t>Walking is hazardous for elderly/children. Small cars must take caution.</a:t>
            </a:r>
          </a:p>
          <a:p>
            <a:pPr>
              <a:spcAft>
                <a:spcPts val="200"/>
              </a:spcAft>
              <a:defRPr sz="1100" b="1">
                <a:solidFill>
                  <a:srgbClr val="FF6B35"/>
                </a:solidFill>
                <a:latin typeface="Segoe UI"/>
              </a:defRPr>
            </a:pPr>
            <a:r>
              <a:t>■  Dangerous Flooded Roads (15 cm to 80 cm)</a:t>
            </a:r>
          </a:p>
          <a:p>
            <a:pPr>
              <a:spcAft>
                <a:spcPts val="1000"/>
              </a:spcAft>
              <a:defRPr sz="1000">
                <a:solidFill>
                  <a:srgbClr val="F8FAFC"/>
                </a:solidFill>
                <a:latin typeface="Segoe UI"/>
              </a:defRPr>
            </a:pPr>
            <a:r>
              <a:t>Blocked for pedestrians and ordinary cars (engines will stall). Only high-clearance rescue trucks can pass.</a:t>
            </a:r>
          </a:p>
          <a:p>
            <a:pPr>
              <a:spcAft>
                <a:spcPts val="200"/>
              </a:spcAft>
              <a:defRPr sz="1100" b="1">
                <a:solidFill>
                  <a:srgbClr val="EB4646"/>
                </a:solidFill>
                <a:latin typeface="Segoe UI"/>
              </a:defRPr>
            </a:pPr>
            <a:r>
              <a:t>■  Deep Flood (Over 80 cm)</a:t>
            </a:r>
          </a:p>
          <a:p>
            <a:pPr>
              <a:spcAft>
                <a:spcPts val="1000"/>
              </a:spcAft>
              <a:defRPr sz="1000">
                <a:solidFill>
                  <a:srgbClr val="F8FAFC"/>
                </a:solidFill>
                <a:latin typeface="Segoe UI"/>
              </a:defRPr>
            </a:pPr>
            <a:r>
              <a:t>Completely impassable. Roads are closed to all vehicles. Only rescue boats can enter.</a:t>
            </a:r>
          </a:p>
        </p:txBody>
      </p:sp>
    </p:spTree>
  </p:cSld>
  <p:clrMapOvr>
    <a:masterClrMapping/>
  </p:clrMapOvr>
  <p:transition xmlns:p16="http://schemas.microsoft.com/office/powerpoint/2015/09/main" spd="med">
    <p16:morph option="byObject"/>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2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FFC93C"/>
                </a:solidFill>
                <a:latin typeface="Segoe UI"/>
              </a:defRPr>
            </a:pPr>
            <a:r>
              <a:t>STEP 4: EARLY WARNING</a:t>
            </a:r>
          </a:p>
          <a:p>
            <a:pPr>
              <a:defRPr sz="2600" b="1">
                <a:solidFill>
                  <a:srgbClr val="F8FAFC"/>
                </a:solidFill>
                <a:latin typeface="Segoe UI"/>
              </a:defRPr>
            </a:pPr>
            <a:r>
              <a:t>SENDING ALERTS DIRECTLY TO PEOPLE WITHOUT DELAY</a:t>
            </a:r>
          </a:p>
        </p:txBody>
      </p:sp>
      <p:sp>
        <p:nvSpPr>
          <p:cNvPr id="4" name="!!TriggerCard"/>
          <p:cNvSpPr/>
          <p:nvPr/>
        </p:nvSpPr>
        <p:spPr>
          <a:xfrm>
            <a:off x="731520" y="1737360"/>
            <a:ext cx="10728655" cy="1645920"/>
          </a:xfrm>
          <a:prstGeom prst="roundRect">
            <a:avLst>
              <a:gd name="adj" fmla="val 4500"/>
            </a:avLst>
          </a:prstGeom>
          <a:solidFill>
            <a:srgbClr val="301218">
              <a:alpha val="90000"/>
            </a:srgbClr>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400" b="1">
                <a:solidFill>
                  <a:srgbClr val="FF6B35"/>
                </a:solidFill>
                <a:latin typeface="Segoe UI"/>
              </a:defRPr>
            </a:pPr>
            <a:r>
              <a:t>AUTOMATIC ALERTS: NO WAITING FOR MANUAL APPROVAL</a:t>
            </a:r>
          </a:p>
          <a:p>
            <a:pPr>
              <a:defRPr sz="1100">
                <a:solidFill>
                  <a:srgbClr val="F8FAFC"/>
                </a:solidFill>
                <a:latin typeface="Segoe UI"/>
              </a:defRPr>
            </a:pPr>
            <a:r>
              <a:t>In many past floods, official warnings were delayed for hours because of manual paperwork and phone chains. Our software sends out alerts automatically the moment water rise and rainfall speed cross safety limits, ensuring warnings go out even in the middle of the night.</a:t>
            </a:r>
          </a:p>
        </p:txBody>
      </p:sp>
      <p:sp>
        <p:nvSpPr>
          <p:cNvPr id="5" name="!!ChanCard_1."/>
          <p:cNvSpPr/>
          <p:nvPr/>
        </p:nvSpPr>
        <p:spPr>
          <a:xfrm>
            <a:off x="731520" y="3611880"/>
            <a:ext cx="3383280" cy="2606040"/>
          </a:xfrm>
          <a:prstGeom prst="roundRect">
            <a:avLst>
              <a:gd name="adj" fmla="val 4500"/>
            </a:avLst>
          </a:prstGeom>
          <a:solidFill>
            <a:srgbClr val="1A141A">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250" b="1">
                <a:solidFill>
                  <a:srgbClr val="FFC93C"/>
                </a:solidFill>
                <a:latin typeface="Segoe UI"/>
              </a:defRPr>
            </a:pPr>
            <a:r>
              <a:t>1. SMS in Local Languages</a:t>
            </a:r>
          </a:p>
          <a:p>
            <a:pPr>
              <a:defRPr sz="1050">
                <a:solidFill>
                  <a:srgbClr val="F8FAFC"/>
                </a:solidFill>
                <a:latin typeface="Segoe UI"/>
              </a:defRPr>
            </a:pPr>
            <a:r>
              <a:t>Sends text messages directly to mobile phones in local languages (Assamese, Bengali, Hindi, English, etc.). Works on ordinary keypad phones without needing internet.</a:t>
            </a:r>
          </a:p>
        </p:txBody>
      </p:sp>
      <p:sp>
        <p:nvSpPr>
          <p:cNvPr id="6" name="!!ChanCard_2."/>
          <p:cNvSpPr/>
          <p:nvPr/>
        </p:nvSpPr>
        <p:spPr>
          <a:xfrm>
            <a:off x="4389120" y="3611880"/>
            <a:ext cx="3383280" cy="2606040"/>
          </a:xfrm>
          <a:prstGeom prst="roundRect">
            <a:avLst>
              <a:gd name="adj" fmla="val 4500"/>
            </a:avLst>
          </a:prstGeom>
          <a:solidFill>
            <a:srgbClr val="1A141A">
              <a:alpha val="90000"/>
            </a:srgbClr>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250" b="1">
                <a:solidFill>
                  <a:srgbClr val="38BDF8"/>
                </a:solidFill>
                <a:latin typeface="Segoe UI"/>
              </a:defRPr>
            </a:pPr>
            <a:r>
              <a:t>2. Public Loudspeakers &amp; Sirens</a:t>
            </a:r>
          </a:p>
          <a:p>
            <a:pPr>
              <a:defRPr sz="1050">
                <a:solidFill>
                  <a:srgbClr val="F8FAFC"/>
                </a:solidFill>
                <a:latin typeface="Segoe UI"/>
              </a:defRPr>
            </a:pPr>
            <a:r>
              <a:t>Triggers loud audio sirens and clear spoken voice messages at bus stands, train stations, and village centers so people hear the warning immediately.</a:t>
            </a:r>
          </a:p>
        </p:txBody>
      </p:sp>
      <p:sp>
        <p:nvSpPr>
          <p:cNvPr id="7" name="!!ChanCard_3."/>
          <p:cNvSpPr/>
          <p:nvPr/>
        </p:nvSpPr>
        <p:spPr>
          <a:xfrm>
            <a:off x="8046720" y="3611880"/>
            <a:ext cx="3383280" cy="2606040"/>
          </a:xfrm>
          <a:prstGeom prst="roundRect">
            <a:avLst>
              <a:gd name="adj" fmla="val 4500"/>
            </a:avLst>
          </a:prstGeom>
          <a:solidFill>
            <a:srgbClr val="1A141A">
              <a:alpha val="90000"/>
            </a:srgbClr>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250" b="1">
                <a:solidFill>
                  <a:srgbClr val="10B981"/>
                </a:solidFill>
                <a:latin typeface="Segoe UI"/>
              </a:defRPr>
            </a:pPr>
            <a:r>
              <a:t>3. Government Disaster Dashboard</a:t>
            </a:r>
          </a:p>
          <a:p>
            <a:pPr>
              <a:defRPr sz="1050">
                <a:solidFill>
                  <a:srgbClr val="F8FAFC"/>
                </a:solidFill>
                <a:latin typeface="Segoe UI"/>
              </a:defRPr>
            </a:pPr>
            <a:r>
              <a:t>Updates local authorities and district response officials with a clear map showing exactly which streets and neighborhoods are in danger.</a:t>
            </a:r>
          </a:p>
        </p:txBody>
      </p:sp>
    </p:spTree>
  </p:cSld>
  <p:clrMapOvr>
    <a:masterClrMapping/>
  </p:clrMapOvr>
  <p:transition xmlns:p16="http://schemas.microsoft.com/office/powerpoint/2015/09/main" spd="med">
    <p16:morph option="byObject"/>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1E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FFC93C"/>
                </a:solidFill>
                <a:latin typeface="Segoe UI"/>
              </a:defRPr>
            </a:pPr>
            <a:r>
              <a:t>RESCUER ASSISTANCE</a:t>
            </a:r>
          </a:p>
          <a:p>
            <a:pPr>
              <a:defRPr sz="2600" b="1">
                <a:solidFill>
                  <a:srgbClr val="F8FAFC"/>
                </a:solidFill>
                <a:latin typeface="Segoe UI"/>
              </a:defRPr>
            </a:pPr>
            <a:r>
              <a:t>HELPING RESCUERS REACH PEOPLE BEFORE ROADS GET CUT OFF</a:t>
            </a:r>
          </a:p>
        </p:txBody>
      </p:sp>
      <p:sp>
        <p:nvSpPr>
          <p:cNvPr id="4" name="!!RescuerProblemCard"/>
          <p:cNvSpPr/>
          <p:nvPr/>
        </p:nvSpPr>
        <p:spPr>
          <a:xfrm>
            <a:off x="731520" y="1737360"/>
            <a:ext cx="5212080" cy="4480560"/>
          </a:xfrm>
          <a:prstGeom prst="roundRect">
            <a:avLst>
              <a:gd name="adj" fmla="val 4500"/>
            </a:avLst>
          </a:prstGeom>
          <a:solidFill>
            <a:srgbClr val="1B2430">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FFC93C"/>
                </a:solidFill>
                <a:latin typeface="Segoe UI"/>
              </a:defRPr>
            </a:pPr>
            <a:r>
              <a:t>THE PROBLEM FOR EMERGENCY TEAMS</a:t>
            </a:r>
          </a:p>
          <a:p>
            <a:pPr>
              <a:spcAft>
                <a:spcPts val="200"/>
              </a:spcAft>
              <a:defRPr sz="1100" b="1">
                <a:solidFill>
                  <a:srgbClr val="FF6B35"/>
                </a:solidFill>
                <a:latin typeface="Segoe UI"/>
              </a:defRPr>
            </a:pPr>
            <a:r>
              <a:t>• Rescuers Are Often Called Too Late</a:t>
            </a:r>
          </a:p>
          <a:p>
            <a:pPr>
              <a:spcAft>
                <a:spcPts val="1000"/>
              </a:spcAft>
              <a:defRPr sz="1000">
                <a:solidFill>
                  <a:srgbClr val="CBD5E1"/>
                </a:solidFill>
                <a:latin typeface="Segoe UI"/>
              </a:defRPr>
            </a:pPr>
            <a:r>
              <a:t>Emergency teams (like NDRF or local police) usually find out about trapped people only after water has already cut off the road.</a:t>
            </a:r>
          </a:p>
          <a:p>
            <a:pPr>
              <a:spcAft>
                <a:spcPts val="200"/>
              </a:spcAft>
              <a:defRPr sz="1100" b="1">
                <a:solidFill>
                  <a:srgbClr val="FF6B35"/>
                </a:solidFill>
                <a:latin typeface="Segoe UI"/>
              </a:defRPr>
            </a:pPr>
            <a:r>
              <a:t>• Villages Become Inaccessible Islands</a:t>
            </a:r>
          </a:p>
          <a:p>
            <a:pPr>
              <a:spcAft>
                <a:spcPts val="1000"/>
              </a:spcAft>
              <a:defRPr sz="1000">
                <a:solidFill>
                  <a:srgbClr val="CBD5E1"/>
                </a:solidFill>
                <a:latin typeface="Segoe UI"/>
              </a:defRPr>
            </a:pPr>
            <a:r>
              <a:t>Low-lying areas often have only one main road connecting them. Once that road goes under 1 meter of water, regular trucks cannot enter.</a:t>
            </a:r>
          </a:p>
          <a:p>
            <a:pPr>
              <a:spcAft>
                <a:spcPts val="200"/>
              </a:spcAft>
              <a:defRPr sz="1100" b="1">
                <a:solidFill>
                  <a:srgbClr val="FF6B35"/>
                </a:solidFill>
                <a:latin typeface="Segoe UI"/>
              </a:defRPr>
            </a:pPr>
            <a:r>
              <a:t>• Rescuers Risk Getting Stuck Themselves</a:t>
            </a:r>
          </a:p>
          <a:p>
            <a:pPr>
              <a:spcAft>
                <a:spcPts val="1000"/>
              </a:spcAft>
              <a:defRPr sz="1000">
                <a:solidFill>
                  <a:srgbClr val="CBD5E1"/>
                </a:solidFill>
                <a:latin typeface="Segoe UI"/>
              </a:defRPr>
            </a:pPr>
            <a:r>
              <a:t>Without knowing where water is rising fastest, rescue vehicles can easily drive into washed-out roads and get trapped.</a:t>
            </a:r>
          </a:p>
        </p:txBody>
      </p:sp>
      <p:sp>
        <p:nvSpPr>
          <p:cNvPr id="5" name="!!RescuerSolutionCard"/>
          <p:cNvSpPr/>
          <p:nvPr/>
        </p:nvSpPr>
        <p:spPr>
          <a:xfrm>
            <a:off x="6217920" y="1737360"/>
            <a:ext cx="5212080" cy="4480560"/>
          </a:xfrm>
          <a:prstGeom prst="roundRect">
            <a:avLst>
              <a:gd name="adj" fmla="val 4500"/>
            </a:avLst>
          </a:prstGeom>
          <a:solidFill>
            <a:srgbClr val="1B2430">
              <a:alpha val="90000"/>
            </a:srgbClr>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10B981"/>
                </a:solidFill>
                <a:latin typeface="Segoe UI"/>
              </a:defRPr>
            </a:pPr>
            <a:r>
              <a:t>HOW OUR SYSTEM HELPS RESCUERS</a:t>
            </a:r>
          </a:p>
          <a:p>
            <a:pPr>
              <a:spcAft>
                <a:spcPts val="200"/>
              </a:spcAft>
              <a:defRPr sz="1100" b="1">
                <a:solidFill>
                  <a:srgbClr val="F8FAFC"/>
                </a:solidFill>
                <a:latin typeface="Segoe UI"/>
              </a:defRPr>
            </a:pPr>
            <a:r>
              <a:t>✔  Identifies Cut-Off Zones in Advance</a:t>
            </a:r>
          </a:p>
          <a:p>
            <a:pPr>
              <a:spcAft>
                <a:spcPts val="1000"/>
              </a:spcAft>
              <a:defRPr sz="1000">
                <a:solidFill>
                  <a:srgbClr val="CBD5E1"/>
                </a:solidFill>
                <a:latin typeface="Segoe UI"/>
              </a:defRPr>
            </a:pPr>
            <a:r>
              <a:t>Because the system predicts water height 2 hours early, it alerts rescue teams to which neighborhoods will lose road access before the water actually arrives.</a:t>
            </a:r>
          </a:p>
          <a:p>
            <a:pPr>
              <a:spcAft>
                <a:spcPts val="200"/>
              </a:spcAft>
              <a:defRPr sz="1100" b="1">
                <a:solidFill>
                  <a:srgbClr val="F8FAFC"/>
                </a:solidFill>
                <a:latin typeface="Segoe UI"/>
              </a:defRPr>
            </a:pPr>
            <a:r>
              <a:t>✔  Move Boats &amp; Supplies Before Roads Close</a:t>
            </a:r>
          </a:p>
          <a:p>
            <a:pPr>
              <a:spcAft>
                <a:spcPts val="1000"/>
              </a:spcAft>
              <a:defRPr sz="1000">
                <a:solidFill>
                  <a:srgbClr val="CBD5E1"/>
                </a:solidFill>
                <a:latin typeface="Segoe UI"/>
              </a:defRPr>
            </a:pPr>
            <a:r>
              <a:t>Rescuers are advised to move motorized rescue boats, medical kits, and relief supplies into position while access roads are still dry.</a:t>
            </a:r>
          </a:p>
          <a:p>
            <a:pPr>
              <a:spcAft>
                <a:spcPts val="200"/>
              </a:spcAft>
              <a:defRPr sz="1100" b="1">
                <a:solidFill>
                  <a:srgbClr val="F8FAFC"/>
                </a:solidFill>
                <a:latin typeface="Segoe UI"/>
              </a:defRPr>
            </a:pPr>
            <a:r>
              <a:t>✔  Special Routes for High-Clearance Trucks</a:t>
            </a:r>
          </a:p>
          <a:p>
            <a:pPr>
              <a:spcAft>
                <a:spcPts val="1000"/>
              </a:spcAft>
              <a:defRPr sz="1000">
                <a:solidFill>
                  <a:srgbClr val="CBD5E1"/>
                </a:solidFill>
                <a:latin typeface="Segoe UI"/>
              </a:defRPr>
            </a:pPr>
            <a:r>
              <a:t>Rescue trucks can safely drive through shallow water up to 80 cm deep. The system provides special routes for rescue trucks so they take the shortest path to stranded people.</a:t>
            </a:r>
          </a:p>
        </p:txBody>
      </p:sp>
    </p:spTree>
  </p:cSld>
  <p:clrMapOvr>
    <a:masterClrMapping/>
  </p:clrMapOvr>
  <p:transition xmlns:p16="http://schemas.microsoft.com/office/powerpoint/2015/09/main" spd="med">
    <p16:morph option="byObject"/>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1E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38BDF8"/>
                </a:solidFill>
                <a:latin typeface="Segoe UI"/>
              </a:defRPr>
            </a:pPr>
            <a:r>
              <a:t>SAFE EVACUATION</a:t>
            </a:r>
          </a:p>
          <a:p>
            <a:pPr>
              <a:defRPr sz="2600" b="1">
                <a:solidFill>
                  <a:srgbClr val="F8FAFC"/>
                </a:solidFill>
                <a:latin typeface="Segoe UI"/>
              </a:defRPr>
            </a:pPr>
            <a:r>
              <a:t>GUIDING PEOPLE ALONG DRY ROADS TO AVOID DROWNING TRAPS</a:t>
            </a:r>
          </a:p>
        </p:txBody>
      </p:sp>
      <p:sp>
        <p:nvSpPr>
          <p:cNvPr id="4" name="!!ProfCard_Walki"/>
          <p:cNvSpPr/>
          <p:nvPr/>
        </p:nvSpPr>
        <p:spPr>
          <a:xfrm>
            <a:off x="731520" y="1737360"/>
            <a:ext cx="3383280" cy="3108960"/>
          </a:xfrm>
          <a:prstGeom prst="roundRect">
            <a:avLst>
              <a:gd name="adj" fmla="val 4500"/>
            </a:avLst>
          </a:prstGeom>
          <a:solidFill>
            <a:srgbClr val="1B2430">
              <a:alpha val="90000"/>
            </a:srgbClr>
          </a:solidFill>
          <a:ln w="15240">
            <a:solidFill>
              <a:srgbClr val="F8FAF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8FAFC"/>
                </a:solidFill>
                <a:latin typeface="Segoe UI"/>
              </a:defRPr>
            </a:pPr>
            <a:r>
              <a:t>Walking Citizens / Families</a:t>
            </a:r>
          </a:p>
          <a:p>
            <a:pPr>
              <a:spcAft>
                <a:spcPts val="800"/>
              </a:spcAft>
              <a:defRPr sz="1100" b="1">
                <a:solidFill>
                  <a:srgbClr val="F8FAFC"/>
                </a:solidFill>
                <a:latin typeface="Segoe UI"/>
              </a:defRPr>
            </a:pPr>
            <a:r>
              <a:t>MAX SAFE WATER DEPTH: &lt; 15 CM (ANKLE DEPTH)</a:t>
            </a:r>
          </a:p>
          <a:p>
            <a:pPr>
              <a:defRPr sz="1000">
                <a:solidFill>
                  <a:srgbClr val="CBD5E1"/>
                </a:solidFill>
                <a:latin typeface="Segoe UI"/>
              </a:defRPr>
            </a:pPr>
            <a:r>
              <a:t>Fast-moving water as shallow as 15 cm can easily knock down children and adults. The system directs people walking on foot strictly along high, dry ridges and completely avoids flooded streets.</a:t>
            </a:r>
          </a:p>
        </p:txBody>
      </p:sp>
      <p:sp>
        <p:nvSpPr>
          <p:cNvPr id="5" name="!!ProfCard_Famil"/>
          <p:cNvSpPr/>
          <p:nvPr/>
        </p:nvSpPr>
        <p:spPr>
          <a:xfrm>
            <a:off x="4389120" y="1737360"/>
            <a:ext cx="3383280" cy="3108960"/>
          </a:xfrm>
          <a:prstGeom prst="roundRect">
            <a:avLst>
              <a:gd name="adj" fmla="val 4500"/>
            </a:avLst>
          </a:prstGeom>
          <a:solidFill>
            <a:srgbClr val="1B2430">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C93C"/>
                </a:solidFill>
                <a:latin typeface="Segoe UI"/>
              </a:defRPr>
            </a:pPr>
            <a:r>
              <a:t>Family Cars &amp; Motorcycles</a:t>
            </a:r>
          </a:p>
          <a:p>
            <a:pPr>
              <a:spcAft>
                <a:spcPts val="800"/>
              </a:spcAft>
              <a:defRPr sz="1100" b="1">
                <a:solidFill>
                  <a:srgbClr val="FFC93C"/>
                </a:solidFill>
                <a:latin typeface="Segoe UI"/>
              </a:defRPr>
            </a:pPr>
            <a:r>
              <a:t>MAX SAFE WATER DEPTH: &lt; 30 CM</a:t>
            </a:r>
          </a:p>
          <a:p>
            <a:pPr>
              <a:defRPr sz="1000">
                <a:solidFill>
                  <a:srgbClr val="CBD5E1"/>
                </a:solidFill>
                <a:latin typeface="Segoe UI"/>
              </a:defRPr>
            </a:pPr>
            <a:r>
              <a:t>Water deeper than 30 cm will enter car exhaust pipes and air intakes, causing engines to die and leaving families stranded. The system routes passenger vehicles around dips and low culverts.</a:t>
            </a:r>
          </a:p>
        </p:txBody>
      </p:sp>
      <p:sp>
        <p:nvSpPr>
          <p:cNvPr id="6" name="!!ProfCard_Emerg"/>
          <p:cNvSpPr/>
          <p:nvPr/>
        </p:nvSpPr>
        <p:spPr>
          <a:xfrm>
            <a:off x="8046720" y="1737360"/>
            <a:ext cx="3383280" cy="3108960"/>
          </a:xfrm>
          <a:prstGeom prst="roundRect">
            <a:avLst>
              <a:gd name="adj" fmla="val 4500"/>
            </a:avLst>
          </a:prstGeom>
          <a:solidFill>
            <a:srgbClr val="1B2430">
              <a:alpha val="90000"/>
            </a:srgbClr>
          </a:solidFill>
          <a:ln w="1524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6B35"/>
                </a:solidFill>
                <a:latin typeface="Segoe UI"/>
              </a:defRPr>
            </a:pPr>
            <a:r>
              <a:t>Emergency Rescue Trucks</a:t>
            </a:r>
          </a:p>
          <a:p>
            <a:pPr>
              <a:spcAft>
                <a:spcPts val="800"/>
              </a:spcAft>
              <a:defRPr sz="1100" b="1">
                <a:solidFill>
                  <a:srgbClr val="FF6B35"/>
                </a:solidFill>
                <a:latin typeface="Segoe UI"/>
              </a:defRPr>
            </a:pPr>
            <a:r>
              <a:t>MAX SAFE WATER DEPTH: UP TO 80 CM</a:t>
            </a:r>
          </a:p>
          <a:p>
            <a:pPr>
              <a:defRPr sz="1000">
                <a:solidFill>
                  <a:srgbClr val="CBD5E1"/>
                </a:solidFill>
                <a:latin typeface="Segoe UI"/>
              </a:defRPr>
            </a:pPr>
            <a:r>
              <a:t>Heavy NDRF 4x4 trucks have high ground clearance and can wade through shallow flooded sections. This lets rescue teams take direct paths to reach trapped people quickly.</a:t>
            </a:r>
          </a:p>
        </p:txBody>
      </p:sp>
      <p:sp>
        <p:nvSpPr>
          <p:cNvPr id="7" name="!!EvacRibbon"/>
          <p:cNvSpPr/>
          <p:nvPr/>
        </p:nvSpPr>
        <p:spPr>
          <a:xfrm>
            <a:off x="731520" y="5074920"/>
            <a:ext cx="10728655" cy="1234440"/>
          </a:xfrm>
          <a:prstGeom prst="roundRect">
            <a:avLst>
              <a:gd name="adj" fmla="val 4500"/>
            </a:avLst>
          </a:prstGeom>
          <a:solidFill>
            <a:srgbClr val="141C2A">
              <a:alpha val="90000"/>
            </a:srgbClr>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200"/>
              </a:spcAft>
              <a:defRPr sz="1200" b="1">
                <a:solidFill>
                  <a:srgbClr val="38BDF8"/>
                </a:solidFill>
                <a:latin typeface="Segoe UI"/>
              </a:defRPr>
            </a:pPr>
            <a:r>
              <a:t>HOW DYNAMIC ROUTING SAVES LIVES:</a:t>
            </a:r>
          </a:p>
          <a:p>
            <a:pPr>
              <a:defRPr sz="1050">
                <a:solidFill>
                  <a:srgbClr val="F8FAFC"/>
                </a:solidFill>
                <a:latin typeface="Segoe UI"/>
              </a:defRPr>
            </a:pPr>
            <a:r>
              <a:t>Regular map apps calculate the shortest path, which often leads straight into a flooded underpass. Our system constantly checks water levels on every road: if water rises on a street, that street is instantly blocked, and evacuees are guided onto safe alternative roads.</a:t>
            </a:r>
          </a:p>
        </p:txBody>
      </p:sp>
    </p:spTree>
  </p:cSld>
  <p:clrMapOvr>
    <a:masterClrMapping/>
  </p:clrMapOvr>
  <p:transition xmlns:p16="http://schemas.microsoft.com/office/powerpoint/2015/09/main" spd="med">
    <p16:morph option="byObject"/>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1E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38BDF8"/>
                </a:solidFill>
                <a:latin typeface="Segoe UI"/>
              </a:defRPr>
            </a:pPr>
            <a:r>
              <a:t>RELIEF SHELTERS</a:t>
            </a:r>
          </a:p>
          <a:p>
            <a:pPr>
              <a:defRPr sz="2600" b="1">
                <a:solidFill>
                  <a:srgbClr val="F8FAFC"/>
                </a:solidFill>
                <a:latin typeface="Segoe UI"/>
              </a:defRPr>
            </a:pPr>
            <a:r>
              <a:t>MAKING SURE PEOPLE REACH SAFE, OPEN GOVERNMENT SHELTERS</a:t>
            </a:r>
          </a:p>
        </p:txBody>
      </p:sp>
      <p:sp>
        <p:nvSpPr>
          <p:cNvPr id="4" name="!!ShelterCriteriaCard"/>
          <p:cNvSpPr/>
          <p:nvPr/>
        </p:nvSpPr>
        <p:spPr>
          <a:xfrm>
            <a:off x="731520" y="1737360"/>
            <a:ext cx="5212080" cy="4480560"/>
          </a:xfrm>
          <a:prstGeom prst="roundRect">
            <a:avLst>
              <a:gd name="adj" fmla="val 4500"/>
            </a:avLst>
          </a:prstGeom>
          <a:solidFill>
            <a:srgbClr val="1B2430">
              <a:alpha val="90000"/>
            </a:srgbClr>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38BDF8"/>
                </a:solidFill>
                <a:latin typeface="Segoe UI"/>
              </a:defRPr>
            </a:pPr>
            <a:r>
              <a:t>WHICH SHELTERS ARE ACTUALLY SAFE?</a:t>
            </a:r>
          </a:p>
          <a:p>
            <a:pPr>
              <a:spcAft>
                <a:spcPts val="200"/>
              </a:spcAft>
              <a:defRPr sz="1100" b="1">
                <a:solidFill>
                  <a:srgbClr val="F8FAFC"/>
                </a:solidFill>
                <a:latin typeface="Segoe UI"/>
              </a:defRPr>
            </a:pPr>
            <a:r>
              <a:t>✔  Built on High Ground</a:t>
            </a:r>
          </a:p>
          <a:p>
            <a:pPr>
              <a:spcAft>
                <a:spcPts val="1000"/>
              </a:spcAft>
              <a:defRPr sz="1000">
                <a:solidFill>
                  <a:srgbClr val="CBD5E1"/>
                </a:solidFill>
                <a:latin typeface="Segoe UI"/>
              </a:defRPr>
            </a:pPr>
            <a:r>
              <a:t>Not every school or community building is safe. The system only directs people to registered shelters that are built on high ground, well above the highest expected water level.</a:t>
            </a:r>
          </a:p>
          <a:p>
            <a:pPr>
              <a:spcAft>
                <a:spcPts val="200"/>
              </a:spcAft>
              <a:defRPr sz="1100" b="1">
                <a:solidFill>
                  <a:srgbClr val="F8FAFC"/>
                </a:solidFill>
                <a:latin typeface="Segoe UI"/>
              </a:defRPr>
            </a:pPr>
            <a:r>
              <a:t>✔  Must Have a Dry Access Road</a:t>
            </a:r>
          </a:p>
          <a:p>
            <a:pPr>
              <a:spcAft>
                <a:spcPts val="1000"/>
              </a:spcAft>
              <a:defRPr sz="1000">
                <a:solidFill>
                  <a:srgbClr val="CBD5E1"/>
                </a:solidFill>
                <a:latin typeface="Segoe UI"/>
              </a:defRPr>
            </a:pPr>
            <a:r>
              <a:t>A shelter on a hill is useless if the road leading up to it is under 1 meter of water. The system verifies that at least one dry approach road remains open before directing people there.</a:t>
            </a:r>
          </a:p>
          <a:p>
            <a:pPr>
              <a:spcAft>
                <a:spcPts val="200"/>
              </a:spcAft>
              <a:defRPr sz="1100" b="1">
                <a:solidFill>
                  <a:srgbClr val="F8FAFC"/>
                </a:solidFill>
                <a:latin typeface="Segoe UI"/>
              </a:defRPr>
            </a:pPr>
            <a:r>
              <a:t>✔  Official Government Registry</a:t>
            </a:r>
          </a:p>
          <a:p>
            <a:pPr>
              <a:spcAft>
                <a:spcPts val="1000"/>
              </a:spcAft>
              <a:defRPr sz="1000">
                <a:solidFill>
                  <a:srgbClr val="CBD5E1"/>
                </a:solidFill>
                <a:latin typeface="Segoe UI"/>
              </a:defRPr>
            </a:pPr>
            <a:r>
              <a:t>Uses verified shelters from district disaster authorities so people know where food, clean water, and medical aid will be waiting.</a:t>
            </a:r>
          </a:p>
        </p:txBody>
      </p:sp>
      <p:sp>
        <p:nvSpPr>
          <p:cNvPr id="5" name="!!ShelterCapacityCard"/>
          <p:cNvSpPr/>
          <p:nvPr/>
        </p:nvSpPr>
        <p:spPr>
          <a:xfrm>
            <a:off x="6217920" y="1737360"/>
            <a:ext cx="5212080" cy="4480560"/>
          </a:xfrm>
          <a:prstGeom prst="roundRect">
            <a:avLst>
              <a:gd name="adj" fmla="val 4500"/>
            </a:avLst>
          </a:prstGeom>
          <a:solidFill>
            <a:srgbClr val="1B2430">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FFC93C"/>
                </a:solidFill>
                <a:latin typeface="Segoe UI"/>
              </a:defRPr>
            </a:pPr>
            <a:r>
              <a:t>PREVENTING SHELTER OVERCROWDING</a:t>
            </a:r>
          </a:p>
          <a:p>
            <a:pPr>
              <a:spcAft>
                <a:spcPts val="200"/>
              </a:spcAft>
              <a:defRPr sz="1100" b="1">
                <a:solidFill>
                  <a:srgbClr val="10B981"/>
                </a:solidFill>
                <a:latin typeface="Segoe UI"/>
              </a:defRPr>
            </a:pPr>
            <a:r>
              <a:t>• Live Bed Capacity Tracking</a:t>
            </a:r>
          </a:p>
          <a:p>
            <a:pPr>
              <a:spcAft>
                <a:spcPts val="1000"/>
              </a:spcAft>
              <a:defRPr sz="1000">
                <a:solidFill>
                  <a:srgbClr val="CBD5E1"/>
                </a:solidFill>
                <a:latin typeface="Segoe UI"/>
              </a:defRPr>
            </a:pPr>
            <a:r>
              <a:t>The system monitors how full each government shelter is in real-time (for example: Guwahati 72%, Tezpur 65%, Dhubri 88%, Silchar 30%).</a:t>
            </a:r>
          </a:p>
          <a:p>
            <a:pPr>
              <a:spcAft>
                <a:spcPts val="200"/>
              </a:spcAft>
              <a:defRPr sz="1100" b="1">
                <a:solidFill>
                  <a:srgbClr val="10B981"/>
                </a:solidFill>
                <a:latin typeface="Segoe UI"/>
              </a:defRPr>
            </a:pPr>
            <a:r>
              <a:t>• Automatic Diversion at 85% Full</a:t>
            </a:r>
          </a:p>
          <a:p>
            <a:pPr>
              <a:spcAft>
                <a:spcPts val="1000"/>
              </a:spcAft>
              <a:defRPr sz="1000">
                <a:solidFill>
                  <a:srgbClr val="CBD5E1"/>
                </a:solidFill>
                <a:latin typeface="Segoe UI"/>
              </a:defRPr>
            </a:pPr>
            <a:r>
              <a:t>If a relief center gets close to full (reaching 85% occupancy), the system automatically starts routing new evacuees to the next nearest open shelter.</a:t>
            </a:r>
          </a:p>
          <a:p>
            <a:pPr>
              <a:spcAft>
                <a:spcPts val="200"/>
              </a:spcAft>
              <a:defRPr sz="1100" b="1">
                <a:solidFill>
                  <a:srgbClr val="10B981"/>
                </a:solidFill>
                <a:latin typeface="Segoe UI"/>
              </a:defRPr>
            </a:pPr>
            <a:r>
              <a:t>• No One Gets Turned Away</a:t>
            </a:r>
          </a:p>
          <a:p>
            <a:pPr>
              <a:spcAft>
                <a:spcPts val="1000"/>
              </a:spcAft>
              <a:defRPr sz="1000">
                <a:solidFill>
                  <a:srgbClr val="CBD5E1"/>
                </a:solidFill>
                <a:latin typeface="Segoe UI"/>
              </a:defRPr>
            </a:pPr>
            <a:r>
              <a:t>This stops families from walking through rain and storm only to find that the shelter doors are full and locked. It balances crowds smoothly across all available centers.</a:t>
            </a:r>
          </a:p>
        </p:txBody>
      </p:sp>
    </p:spTree>
  </p:cSld>
  <p:clrMapOvr>
    <a:masterClrMapping/>
  </p:clrMapOvr>
  <p:transition xmlns:p16="http://schemas.microsoft.com/office/powerpoint/2015/09/main" spd="med">
    <p16:morph option="byObject"/>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1E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A0B4CD"/>
                </a:solidFill>
                <a:latin typeface="Segoe UI"/>
              </a:defRPr>
            </a:pPr>
            <a:r>
              <a:t>SYSTEM NOVELTY</a:t>
            </a:r>
          </a:p>
          <a:p>
            <a:pPr>
              <a:defRPr sz="2600" b="1">
                <a:solidFill>
                  <a:srgbClr val="F8FAFC"/>
                </a:solidFill>
                <a:latin typeface="Segoe UI"/>
              </a:defRPr>
            </a:pPr>
            <a:r>
              <a:t>HOW OUR SYSTEM DIFFERS FROM EXISTING DISASTER TOOLS</a:t>
            </a:r>
          </a:p>
        </p:txBody>
      </p:sp>
      <p:sp>
        <p:nvSpPr>
          <p:cNvPr id="4" name="!!NovCard_1. C"/>
          <p:cNvSpPr/>
          <p:nvPr/>
        </p:nvSpPr>
        <p:spPr>
          <a:xfrm>
            <a:off x="731520" y="1737360"/>
            <a:ext cx="3383280" cy="3200400"/>
          </a:xfrm>
          <a:prstGeom prst="roundRect">
            <a:avLst>
              <a:gd name="adj" fmla="val 4500"/>
            </a:avLst>
          </a:prstGeom>
          <a:solidFill>
            <a:srgbClr val="1B2430">
              <a:alpha val="90000"/>
            </a:srgbClr>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200" b="1">
                <a:solidFill>
                  <a:srgbClr val="38BDF8"/>
                </a:solidFill>
                <a:latin typeface="Segoe UI"/>
              </a:defRPr>
            </a:pPr>
            <a:r>
              <a:t>1. Continuous Satellite Radar Failover</a:t>
            </a:r>
          </a:p>
          <a:p>
            <a:pPr>
              <a:spcAft>
                <a:spcPts val="800"/>
              </a:spcAft>
              <a:defRPr sz="1250" b="1">
                <a:solidFill>
                  <a:srgbClr val="F8FAFC"/>
                </a:solidFill>
                <a:latin typeface="Segoe UI"/>
              </a:defRPr>
            </a:pPr>
            <a:r>
              <a:t>GROUND GAUGE VULNERABILITY FIXED</a:t>
            </a:r>
          </a:p>
          <a:p>
            <a:pPr>
              <a:defRPr sz="1000">
                <a:solidFill>
                  <a:srgbClr val="CBD5E1"/>
                </a:solidFill>
                <a:latin typeface="Segoe UI"/>
              </a:defRPr>
            </a:pPr>
            <a:r>
              <a:t>Existing river monitoring depends on physical gauges that break or lose power during storms. Our system provides automated failover to Sentinel-3 SAR radar altimetry, penetrating storm clouds directly from orbit without ground equipment.</a:t>
            </a:r>
          </a:p>
        </p:txBody>
      </p:sp>
      <p:sp>
        <p:nvSpPr>
          <p:cNvPr id="5" name="!!NovCard_2. S"/>
          <p:cNvSpPr/>
          <p:nvPr/>
        </p:nvSpPr>
        <p:spPr>
          <a:xfrm>
            <a:off x="4389120" y="1737360"/>
            <a:ext cx="3383280" cy="3200400"/>
          </a:xfrm>
          <a:prstGeom prst="roundRect">
            <a:avLst>
              <a:gd name="adj" fmla="val 4500"/>
            </a:avLst>
          </a:prstGeom>
          <a:solidFill>
            <a:srgbClr val="1B2430">
              <a:alpha val="90000"/>
            </a:srgbClr>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200" b="1">
                <a:solidFill>
                  <a:srgbClr val="10B981"/>
                </a:solidFill>
                <a:latin typeface="Segoe UI"/>
              </a:defRPr>
            </a:pPr>
            <a:r>
              <a:t>2. Street-Level Depth-Aware Routing</a:t>
            </a:r>
          </a:p>
          <a:p>
            <a:pPr>
              <a:spcAft>
                <a:spcPts val="800"/>
              </a:spcAft>
              <a:defRPr sz="1250" b="1">
                <a:solidFill>
                  <a:srgbClr val="F8FAFC"/>
                </a:solidFill>
                <a:latin typeface="Segoe UI"/>
              </a:defRPr>
            </a:pPr>
            <a:r>
              <a:t>SOLVES COMMERCIAL GPS BLINDNESS</a:t>
            </a:r>
          </a:p>
          <a:p>
            <a:pPr>
              <a:defRPr sz="1000">
                <a:solidFill>
                  <a:srgbClr val="CBD5E1"/>
                </a:solidFill>
                <a:latin typeface="Segoe UI"/>
              </a:defRPr>
            </a:pPr>
            <a:r>
              <a:t>Standard GPS apps (Google Maps) only route by traffic speed and frequently direct drivers into flooded dips. Our system calculates estimated water depth on every road segment and strictly steers evacuees along verified dry routes.</a:t>
            </a:r>
          </a:p>
        </p:txBody>
      </p:sp>
      <p:sp>
        <p:nvSpPr>
          <p:cNvPr id="6" name="!!NovCard_3. P"/>
          <p:cNvSpPr/>
          <p:nvPr/>
        </p:nvSpPr>
        <p:spPr>
          <a:xfrm>
            <a:off x="8046720" y="1737360"/>
            <a:ext cx="3383280" cy="3200400"/>
          </a:xfrm>
          <a:prstGeom prst="roundRect">
            <a:avLst>
              <a:gd name="adj" fmla="val 4500"/>
            </a:avLst>
          </a:prstGeom>
          <a:solidFill>
            <a:srgbClr val="1B2430">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200" b="1">
                <a:solidFill>
                  <a:srgbClr val="FFC93C"/>
                </a:solidFill>
                <a:latin typeface="Segoe UI"/>
              </a:defRPr>
            </a:pPr>
            <a:r>
              <a:t>3. Proactive Rescuer Staging &amp; Shelters</a:t>
            </a:r>
          </a:p>
          <a:p>
            <a:pPr>
              <a:spcAft>
                <a:spcPts val="800"/>
              </a:spcAft>
              <a:defRPr sz="1250" b="1">
                <a:solidFill>
                  <a:srgbClr val="F8FAFC"/>
                </a:solidFill>
                <a:latin typeface="Segoe UI"/>
              </a:defRPr>
            </a:pPr>
            <a:r>
              <a:t>FROM REACTIVE CALLS TO ADVANCE ACTION</a:t>
            </a:r>
          </a:p>
          <a:p>
            <a:pPr>
              <a:defRPr sz="1000">
                <a:solidFill>
                  <a:srgbClr val="CBD5E1"/>
                </a:solidFill>
                <a:latin typeface="Segoe UI"/>
              </a:defRPr>
            </a:pPr>
            <a:r>
              <a:t>Current rescue teams are dispatched after access roads are submerged. Our system flags single-access villages 2 hours before cutoff to pre-stage boats, and dynamically routes families to open shelters with dry access roads.</a:t>
            </a:r>
          </a:p>
        </p:txBody>
      </p:sp>
      <p:sp>
        <p:nvSpPr>
          <p:cNvPr id="7" name="!!NoveltySummaryBox"/>
          <p:cNvSpPr/>
          <p:nvPr/>
        </p:nvSpPr>
        <p:spPr>
          <a:xfrm>
            <a:off x="731520" y="5166360"/>
            <a:ext cx="10728655" cy="1143000"/>
          </a:xfrm>
          <a:prstGeom prst="roundRect">
            <a:avLst>
              <a:gd name="adj" fmla="val 4500"/>
            </a:avLst>
          </a:prstGeom>
          <a:solidFill>
            <a:srgbClr val="16202E">
              <a:alpha val="90000"/>
            </a:srgbClr>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200"/>
              </a:spcAft>
              <a:defRPr sz="1200" b="1">
                <a:solidFill>
                  <a:srgbClr val="10B981"/>
                </a:solidFill>
                <a:latin typeface="Segoe UI"/>
              </a:defRPr>
            </a:pPr>
            <a:r>
              <a:t>SUMMARY OF NOVEL CONTRIBUTION:</a:t>
            </a:r>
          </a:p>
          <a:p>
            <a:pPr>
              <a:defRPr sz="1050">
                <a:solidFill>
                  <a:srgbClr val="F8FAFC"/>
                </a:solidFill>
                <a:latin typeface="Segoe UI"/>
              </a:defRPr>
            </a:pPr>
            <a:r>
              <a:t>Instead of treating river monitoring, road mapping, and rescue logistics as isolated problems, our framework integrates them into a single automated pipeline: spaceborne sensor backup + street water depth mapping + depth-constrained evacuation navigation.</a:t>
            </a:r>
          </a:p>
        </p:txBody>
      </p:sp>
    </p:spTree>
  </p:cSld>
  <p:clrMapOvr>
    <a:masterClrMapping/>
  </p:clrMapOvr>
  <p:transition xmlns:p16="http://schemas.microsoft.com/office/powerpoint/2015/09/main" spd="med">
    <p16:morph option="byObject"/>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nvasBackground"/>
          <p:cNvSpPr/>
          <p:nvPr/>
        </p:nvSpPr>
        <p:spPr>
          <a:xfrm>
            <a:off x="0" y="0"/>
            <a:ext cx="12191695" cy="6858000"/>
          </a:xfrm>
          <a:prstGeom prst="rect">
            <a:avLst/>
          </a:prstGeom>
          <a:solidFill>
            <a:srgbClr val="1E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TextBox"/>
          <p:cNvSpPr txBox="1"/>
          <p:nvPr/>
        </p:nvSpPr>
        <p:spPr>
          <a:xfrm>
            <a:off x="731520" y="457200"/>
            <a:ext cx="10728655" cy="1051560"/>
          </a:xfrm>
          <a:prstGeom prst="rect">
            <a:avLst/>
          </a:prstGeom>
          <a:noFill/>
        </p:spPr>
        <p:txBody>
          <a:bodyPr wrap="square" lIns="0" rIns="0" tIns="0" bIns="0">
            <a:spAutoFit/>
          </a:bodyPr>
          <a:lstStyle/>
          <a:p>
            <a:pPr>
              <a:spcAft>
                <a:spcPts val="400"/>
              </a:spcAft>
              <a:defRPr sz="1100" b="1">
                <a:solidFill>
                  <a:srgbClr val="A0B4CD"/>
                </a:solidFill>
                <a:latin typeface="Segoe UI"/>
              </a:defRPr>
            </a:pPr>
            <a:r>
              <a:t>CONCLUSION</a:t>
            </a:r>
          </a:p>
          <a:p>
            <a:pPr>
              <a:defRPr sz="2600" b="1">
                <a:solidFill>
                  <a:srgbClr val="F8FAFC"/>
                </a:solidFill>
                <a:latin typeface="Segoe UI"/>
              </a:defRPr>
            </a:pPr>
            <a:r>
              <a:t>SUMMARY OF WHAT WE BUILT AND NEXT STEPS</a:t>
            </a:r>
          </a:p>
        </p:txBody>
      </p:sp>
      <p:sp>
        <p:nvSpPr>
          <p:cNvPr id="4" name="!!SummaryCard"/>
          <p:cNvSpPr/>
          <p:nvPr/>
        </p:nvSpPr>
        <p:spPr>
          <a:xfrm>
            <a:off x="731520" y="1737360"/>
            <a:ext cx="5212080" cy="3657600"/>
          </a:xfrm>
          <a:prstGeom prst="roundRect">
            <a:avLst>
              <a:gd name="adj" fmla="val 4500"/>
            </a:avLst>
          </a:prstGeom>
          <a:solidFill>
            <a:srgbClr val="1B2430">
              <a:alpha val="90000"/>
            </a:srgbClr>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300" b="1">
                <a:solidFill>
                  <a:srgbClr val="10B981"/>
                </a:solidFill>
                <a:latin typeface="Segoe UI"/>
              </a:defRPr>
            </a:pPr>
            <a:r>
              <a:t>WHAT OUR SYSTEM ACHIEVES</a:t>
            </a:r>
          </a:p>
          <a:p>
            <a:pPr>
              <a:spcAft>
                <a:spcPts val="100"/>
              </a:spcAft>
              <a:defRPr sz="1100" b="1">
                <a:solidFill>
                  <a:srgbClr val="F8FAFC"/>
                </a:solidFill>
                <a:latin typeface="Segoe UI"/>
              </a:defRPr>
            </a:pPr>
            <a:r>
              <a:t>✔  Predicts 2+ Hours Early</a:t>
            </a:r>
          </a:p>
          <a:p>
            <a:pPr>
              <a:spcAft>
                <a:spcPts val="600"/>
              </a:spcAft>
              <a:defRPr sz="950">
                <a:solidFill>
                  <a:srgbClr val="CBD5E1"/>
                </a:solidFill>
                <a:latin typeface="Segoe UI"/>
              </a:defRPr>
            </a:pPr>
            <a:r>
              <a:t>Gives residents and emergency managers valuable advance time before floodwaters peak.</a:t>
            </a:r>
          </a:p>
          <a:p>
            <a:pPr>
              <a:spcAft>
                <a:spcPts val="100"/>
              </a:spcAft>
              <a:defRPr sz="1100" b="1">
                <a:solidFill>
                  <a:srgbClr val="F8FAFC"/>
                </a:solidFill>
                <a:latin typeface="Segoe UI"/>
              </a:defRPr>
            </a:pPr>
            <a:r>
              <a:t>✔  Works Even If Sensors Break</a:t>
            </a:r>
          </a:p>
          <a:p>
            <a:pPr>
              <a:spcAft>
                <a:spcPts val="600"/>
              </a:spcAft>
              <a:defRPr sz="950">
                <a:solidFill>
                  <a:srgbClr val="CBD5E1"/>
                </a:solidFill>
                <a:latin typeface="Segoe UI"/>
              </a:defRPr>
            </a:pPr>
            <a:r>
              <a:t>Switches automatically to satellite radar if river gauges get washed away.</a:t>
            </a:r>
          </a:p>
          <a:p>
            <a:pPr>
              <a:spcAft>
                <a:spcPts val="100"/>
              </a:spcAft>
              <a:defRPr sz="1100" b="1">
                <a:solidFill>
                  <a:srgbClr val="F8FAFC"/>
                </a:solidFill>
                <a:latin typeface="Segoe UI"/>
              </a:defRPr>
            </a:pPr>
            <a:r>
              <a:t>✔  Protects Rescuers &amp; Families</a:t>
            </a:r>
          </a:p>
          <a:p>
            <a:pPr>
              <a:spcAft>
                <a:spcPts val="600"/>
              </a:spcAft>
              <a:defRPr sz="950">
                <a:solidFill>
                  <a:srgbClr val="CBD5E1"/>
                </a:solidFill>
                <a:latin typeface="Segoe UI"/>
              </a:defRPr>
            </a:pPr>
            <a:r>
              <a:t>Keeps citizens out of dangerous water and helps rescue teams move before roads submerge.</a:t>
            </a:r>
          </a:p>
          <a:p>
            <a:pPr>
              <a:spcAft>
                <a:spcPts val="100"/>
              </a:spcAft>
              <a:defRPr sz="1100" b="1">
                <a:solidFill>
                  <a:srgbClr val="F8FAFC"/>
                </a:solidFill>
                <a:latin typeface="Segoe UI"/>
              </a:defRPr>
            </a:pPr>
            <a:r>
              <a:t>✔  Guides to Safe Government Shelters</a:t>
            </a:r>
          </a:p>
          <a:p>
            <a:pPr>
              <a:spcAft>
                <a:spcPts val="600"/>
              </a:spcAft>
              <a:defRPr sz="950">
                <a:solidFill>
                  <a:srgbClr val="CBD5E1"/>
                </a:solidFill>
                <a:latin typeface="Segoe UI"/>
              </a:defRPr>
            </a:pPr>
            <a:r>
              <a:t>Directs evacuees only to elevated shelters with open beds and dry access roads.</a:t>
            </a:r>
          </a:p>
        </p:txBody>
      </p:sp>
      <p:sp>
        <p:nvSpPr>
          <p:cNvPr id="5" name="!!NextStepsCard"/>
          <p:cNvSpPr/>
          <p:nvPr/>
        </p:nvSpPr>
        <p:spPr>
          <a:xfrm>
            <a:off x="6217920" y="1737360"/>
            <a:ext cx="5212080" cy="3657600"/>
          </a:xfrm>
          <a:prstGeom prst="roundRect">
            <a:avLst>
              <a:gd name="adj" fmla="val 4500"/>
            </a:avLst>
          </a:prstGeom>
          <a:solidFill>
            <a:srgbClr val="1B2430">
              <a:alpha val="90000"/>
            </a:srgbClr>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300" b="1">
                <a:solidFill>
                  <a:srgbClr val="38BDF8"/>
                </a:solidFill>
                <a:latin typeface="Segoe UI"/>
              </a:defRPr>
            </a:pPr>
            <a:r>
              <a:t>PRACTICAL NEXT STEPS</a:t>
            </a:r>
          </a:p>
          <a:p>
            <a:pPr>
              <a:spcAft>
                <a:spcPts val="100"/>
              </a:spcAft>
              <a:defRPr sz="1100" b="1">
                <a:solidFill>
                  <a:srgbClr val="FFC93C"/>
                </a:solidFill>
                <a:latin typeface="Segoe UI"/>
              </a:defRPr>
            </a:pPr>
            <a:r>
              <a:t>• Integration with State Disaster Portals</a:t>
            </a:r>
          </a:p>
          <a:p>
            <a:pPr>
              <a:spcAft>
                <a:spcPts val="600"/>
              </a:spcAft>
              <a:defRPr sz="950">
                <a:solidFill>
                  <a:srgbClr val="CBD5E1"/>
                </a:solidFill>
                <a:latin typeface="Segoe UI"/>
              </a:defRPr>
            </a:pPr>
            <a:r>
              <a:t>Connecting the automatic alert pipeline directly with local State Disaster Management Authority SMS portals.</a:t>
            </a:r>
          </a:p>
          <a:p>
            <a:pPr>
              <a:spcAft>
                <a:spcPts val="100"/>
              </a:spcAft>
              <a:defRPr sz="1100" b="1">
                <a:solidFill>
                  <a:srgbClr val="FFC93C"/>
                </a:solidFill>
                <a:latin typeface="Segoe UI"/>
              </a:defRPr>
            </a:pPr>
            <a:r>
              <a:t>• Deploying Low-Cost Water Sensors</a:t>
            </a:r>
          </a:p>
          <a:p>
            <a:pPr>
              <a:spcAft>
                <a:spcPts val="600"/>
              </a:spcAft>
              <a:defRPr sz="950">
                <a:solidFill>
                  <a:srgbClr val="CBD5E1"/>
                </a:solidFill>
                <a:latin typeface="Segoe UI"/>
              </a:defRPr>
            </a:pPr>
            <a:r>
              <a:t>Testing small, solar-powered water level sensors on smaller streams that currently have no government monitoring.</a:t>
            </a:r>
          </a:p>
          <a:p>
            <a:pPr>
              <a:spcAft>
                <a:spcPts val="100"/>
              </a:spcAft>
              <a:defRPr sz="1100" b="1">
                <a:solidFill>
                  <a:srgbClr val="FFC93C"/>
                </a:solidFill>
                <a:latin typeface="Segoe UI"/>
              </a:defRPr>
            </a:pPr>
            <a:r>
              <a:t>• Field Trials with Local Communities</a:t>
            </a:r>
          </a:p>
          <a:p>
            <a:pPr>
              <a:spcAft>
                <a:spcPts val="600"/>
              </a:spcAft>
              <a:defRPr sz="950">
                <a:solidFill>
                  <a:srgbClr val="CBD5E1"/>
                </a:solidFill>
                <a:latin typeface="Segoe UI"/>
              </a:defRPr>
            </a:pPr>
            <a:r>
              <a:t>Conducting evacuation drills in flood-prone blocks to ensure families and rescue teams find the mobile interface easy to use.</a:t>
            </a:r>
          </a:p>
        </p:txBody>
      </p:sp>
      <p:sp>
        <p:nvSpPr>
          <p:cNvPr id="6" name="!!ThankYouCard"/>
          <p:cNvSpPr/>
          <p:nvPr/>
        </p:nvSpPr>
        <p:spPr>
          <a:xfrm>
            <a:off x="731520" y="5532120"/>
            <a:ext cx="10728655" cy="868680"/>
          </a:xfrm>
          <a:prstGeom prst="roundRect">
            <a:avLst>
              <a:gd name="adj" fmla="val 4500"/>
            </a:avLst>
          </a:prstGeom>
          <a:solidFill>
            <a:srgbClr val="141C28">
              <a:alpha val="90000"/>
            </a:srgbClr>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200"/>
              </a:spcAft>
              <a:defRPr sz="1300" b="1">
                <a:solidFill>
                  <a:srgbClr val="F8FAFC"/>
                </a:solidFill>
                <a:latin typeface="Segoe UI"/>
              </a:defRPr>
            </a:pPr>
            <a:r>
              <a:t>THANK YOU  •  QUESTIONS &amp; DISCUSSION</a:t>
            </a:r>
          </a:p>
          <a:p>
            <a:pPr>
              <a:defRPr sz="1000">
                <a:solidFill>
                  <a:srgbClr val="38BDF8"/>
                </a:solidFill>
                <a:latin typeface="Segoe UI"/>
              </a:defRPr>
            </a:pPr>
            <a:r>
              <a:t>Undergraduate Major Project Research Group  |  Department of Computer Science &amp; Engineering</a:t>
            </a:r>
          </a:p>
        </p:txBody>
      </p:sp>
    </p:spTree>
  </p:cSld>
  <p:clrMapOvr>
    <a:masterClrMapping/>
  </p:clrMapOvr>
  <p:transition xmlns:p16="http://schemas.microsoft.com/office/powerpoint/2015/09/main" spd="med">
    <p16:morph option="byObjec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